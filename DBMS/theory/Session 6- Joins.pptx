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3.xml" ContentType="application/vnd.openxmlformats-officedocument.presentationml.tags+xml"/>
  <Override PartName="/ppt/notesSlides/notesSlide1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4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343" r:id="rId3"/>
    <p:sldId id="344" r:id="rId4"/>
    <p:sldId id="345" r:id="rId5"/>
    <p:sldId id="346" r:id="rId6"/>
    <p:sldId id="347" r:id="rId7"/>
    <p:sldId id="348" r:id="rId8"/>
    <p:sldId id="349" r:id="rId9"/>
    <p:sldId id="350" r:id="rId10"/>
    <p:sldId id="351" r:id="rId11"/>
    <p:sldId id="352" r:id="rId12"/>
    <p:sldId id="386" r:id="rId13"/>
    <p:sldId id="390" r:id="rId14"/>
    <p:sldId id="389" r:id="rId15"/>
    <p:sldId id="388" r:id="rId16"/>
    <p:sldId id="381" r:id="rId17"/>
    <p:sldId id="384" r:id="rId18"/>
    <p:sldId id="383" r:id="rId19"/>
    <p:sldId id="382" r:id="rId20"/>
    <p:sldId id="380" r:id="rId21"/>
    <p:sldId id="274" r:id="rId22"/>
    <p:sldId id="391" r:id="rId23"/>
    <p:sldId id="392" r:id="rId24"/>
    <p:sldId id="393" r:id="rId25"/>
    <p:sldId id="516" r:id="rId26"/>
    <p:sldId id="518" r:id="rId27"/>
    <p:sldId id="519" r:id="rId28"/>
    <p:sldId id="520" r:id="rId29"/>
    <p:sldId id="521" r:id="rId30"/>
    <p:sldId id="522" r:id="rId31"/>
    <p:sldId id="523" r:id="rId32"/>
    <p:sldId id="278" r:id="rId33"/>
    <p:sldId id="451" r:id="rId34"/>
    <p:sldId id="452" r:id="rId35"/>
    <p:sldId id="282" r:id="rId36"/>
    <p:sldId id="524" r:id="rId37"/>
    <p:sldId id="525" r:id="rId38"/>
    <p:sldId id="526" r:id="rId39"/>
    <p:sldId id="373" r:id="rId40"/>
    <p:sldId id="289" r:id="rId41"/>
    <p:sldId id="530" r:id="rId42"/>
    <p:sldId id="360" r:id="rId43"/>
    <p:sldId id="290" r:id="rId44"/>
    <p:sldId id="410" r:id="rId45"/>
    <p:sldId id="411" r:id="rId46"/>
    <p:sldId id="531" r:id="rId47"/>
    <p:sldId id="528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7474"/>
    <a:srgbClr val="FFC6C6"/>
    <a:srgbClr val="F6C3FF"/>
    <a:srgbClr val="388600"/>
    <a:srgbClr val="C189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82FD3-1A47-49E6-8A47-55B18C13050A}" type="datetimeFigureOut">
              <a:rPr lang="en-IN" smtClean="0"/>
              <a:t>22-07-2025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3652BB-6D62-440D-AD4F-D6F2173053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5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041D4EB-1682-07D5-85AF-36220AE938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1E6B67B-03D9-44A7-8016-076C86F631EA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3DE9093E-B7DA-4E33-AACD-BA6D22D3B4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7E3848BB-AF62-A85F-E933-D23702C0DB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 b="1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8A46FD5F-10FD-854E-782D-65216F4E0B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B8FA31B-B73C-4DA2-8485-7AE363BC4439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46CFBCB6-8959-C532-2E21-0F6D11A93F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268E9A19-A588-FE0A-2D30-85657C4954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 b="1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84D22653-5B6B-D1CD-8C34-3931DF2DD7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213695B-B9B7-4015-AC98-3D2347AEFA41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2EB1BC67-52CC-60C4-14D8-347C316036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A1A0DB78-F706-69A3-6F63-7CF021C2E0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 b="1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0DFDD70-FFEC-9F0B-85E5-294D846A25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CB0AF73-2C7A-445C-B13E-AA52CFC4B0A2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93BADAC6-0031-E90E-ABAC-B7E60F23CE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65FA9451-CFE8-82ED-986B-57B629C6AC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 b="1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A983A824-9861-BCAD-C24D-71A89A8A0C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E61D463-4E7C-408C-9F07-65675E01588D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E27A6C05-AA33-98E1-E263-6042432D7E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954F11E0-F0A9-007A-40C9-31123EF1D7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 b="1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8A171F5E-76C3-97B6-5DF8-DD126BCFE7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B7491BE-30DC-40D9-AC5C-6BA5FCB574B2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4FEDC92A-3637-DF32-C5CF-D3287B1CDA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75E57B77-1FD4-D062-59E1-933BDC9DAA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 b="1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FE1BE16F-527A-5AEC-800F-75399EB3CE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81442C4-39CF-4650-8DE2-E17BADB1969C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4A37AFC9-EE6A-1020-4801-915B99CBB7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DC75B116-5C07-7C38-7756-5D6BD9E0A5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 b="1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128D400A-61EE-7F94-4D16-2852A468F5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5A72446-F32C-4319-BC4A-FDC403A8490F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19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9058E43E-701A-07EF-75D1-9018D54B7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1971EE35-673E-9FD3-98B6-205820EC1A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 b="1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9C9C6D0F-804D-D621-12C3-245345DF67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C46B3A6-7EE5-4EDC-B62A-87AC61B98F33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F45C1789-9517-BDC2-252A-0B6448F73E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6E8CA259-329A-AC38-EBBD-96A5E27065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Times New Roman" panose="02020603050405020304" pitchFamily="18" charset="0"/>
              </a:rPr>
              <a:t>s105d02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1457CCAD-D452-E32F-7BE0-15B476BE7A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47E9371-6A78-4DBD-B3FE-8F6F0261AB49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E4D81248-F58E-D542-8608-F4FEF2F860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34A1430C-6828-292C-2714-2246253D3A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Times New Roman" panose="02020603050405020304" pitchFamily="18" charset="0"/>
              </a:rPr>
              <a:t>s105d02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D300886E-FF96-94EA-835F-3F10550627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AB725EB-A7DC-494E-8AD6-00C2E0E48266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11678027-A2F3-C630-7211-1A2DF0B32E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98F1EEC7-74B1-82A4-F7FB-EEC6697FFF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Times New Roman" panose="02020603050405020304" pitchFamily="18" charset="0"/>
              </a:rPr>
              <a:t>s105d02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B06A5666-74BE-71D1-C9B1-5B75231214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6B596FA-64D8-4455-B7F9-21A306C3F4E6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35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3CE423B3-1F9B-F8CA-423D-9417AEB8B8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FDBBE162-2E03-AF5B-461A-8E98AAA9F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Times New Roman" panose="02020603050405020304" pitchFamily="18" charset="0"/>
              </a:rPr>
              <a:t>s105d03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3654DBC1-3129-4AB1-488C-B8E13B041D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AE6A768-6E21-491E-BC72-1A77D8DE93AB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7AFCE478-1A49-9239-2F49-FF6319100D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8B740880-B9E2-588C-4B00-E860561A31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Times New Roman" panose="02020603050405020304" pitchFamily="18" charset="0"/>
              </a:rPr>
              <a:t>s105d07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D91570B2-13CF-0752-15F1-154F2A7F3D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4B0D0ED-F869-4BDD-8B15-E4E449FF5FEE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996E44C-7602-280B-B58D-A52B43D19A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816F3C9-EB0D-3210-6EA0-E17F27874D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Times New Roman" panose="02020603050405020304" pitchFamily="18" charset="0"/>
              </a:rPr>
              <a:t>s105d08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81403D32-19DF-9929-0F09-923D3DDBA8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D6FC198-08B9-4BD1-97B6-CE9E48065A04}" type="slidenum">
              <a:rPr lang="en-US" altLang="en-US" smtClean="0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45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48CEF26F-939A-94CC-E9DA-DE1886B011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56D76AB6-CFCE-CAE7-9EA3-369F1EC463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b="1">
                <a:latin typeface="Times New Roman" panose="02020603050405020304" pitchFamily="18" charset="0"/>
              </a:rPr>
              <a:t>s105d09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48D14-842C-D189-D0EC-08A34F48A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0C82DC-167B-CD70-6448-F2D113004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D715C-4444-D435-39D0-A4FB79AE6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74DF1-FE91-4746-A207-394DE244E24A}" type="datetime1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A255C-A18D-749E-C6E4-535CB61FA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A2ECF-D194-5FEA-8A2E-C4C6C85B7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CEC28-A593-4026-B144-55F0241DB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28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04BB-D117-DC26-FC31-29078613F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868D2-CED4-AD2C-999D-C17270E9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E0599-4EE8-DAC9-35F7-DA6C94F6D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B4010-5F79-4F74-9900-04B5364CED1E}" type="datetime1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19F0A-38F2-174A-DA1B-12BB5776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0BD97-DE39-0516-8822-AC1E02B8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CEC28-A593-4026-B144-55F0241DB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32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93D17-C787-4229-3AC3-433084D9D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FD778-628E-D5D7-122B-99B89F045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85C6-0851-86D2-59B8-17E79C25B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D9365-DAD7-4CEC-890B-390299DD6C75}" type="datetime1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84D23D-B0FB-805A-48D5-AB7364B9B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CAC77-D81C-7BBD-CBDE-6B75DC571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CEC28-A593-4026-B144-55F0241DB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452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C888-8D30-B38E-415A-EF1383BA5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7F742-68B8-E1DE-39A9-0C3074F3D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4A2FFD-8BE9-3F86-4339-1D4D51DEF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12FF9A-C0E9-F88B-A88E-D918E3B97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52034-B536-4CD9-B566-50F8DB7ADA43}" type="datetime1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E3941-B8AD-3833-2F85-D6307CD2F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692B8-9649-3B32-6F58-80C0867E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CEC28-A593-4026-B144-55F0241DB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797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A52C8-F142-9926-F9C9-E7FF9558F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3DECE-882D-1D8C-18A5-C979DC380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A8D7D-3EEC-AF43-616E-07FDBD54C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7EEE3A-4441-1151-1A13-4F09456E42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C1EF64-7059-6BF1-0A2A-7D259EF0C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DFBD32-A3E8-E88D-7FA8-C25DBF0B2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2F5C1-4551-485F-BF0F-5F120E1DD820}" type="datetime1">
              <a:rPr lang="en-IN" smtClean="0"/>
              <a:t>22-07-2025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D9D266-0430-226D-E24E-6D4F1AAEC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258052-F4D6-BC71-570E-A13E6BF3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CEC28-A593-4026-B144-55F0241DB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40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D66F3-512E-0E7F-B047-A2DDF4D4F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0F3AD0-8AF3-31BC-6056-3DFBD3566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76268-F7B1-4466-8990-FE2169C89058}" type="datetime1">
              <a:rPr lang="en-IN" smtClean="0"/>
              <a:t>22-07-2025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EB3ECE-2FB7-34F4-C8A3-99870952C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ACE27A-E767-8ED6-27C1-9FF9ED9FB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CEC28-A593-4026-B144-55F0241DB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48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125B89-F0CB-2A03-D155-A2ED5FD73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5A569-D0F0-4484-B292-C0B1A69C03C5}" type="datetime1">
              <a:rPr lang="en-IN" smtClean="0"/>
              <a:t>22-07-2025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5A0539-CFC1-0912-42E3-DC82E2D77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56606-A130-8421-4E48-838E97F9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CEC28-A593-4026-B144-55F0241DB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040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4C88F-2A20-C164-C8BF-AD62CD0F8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26E95-653F-9AA0-F5E4-E241800B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0AF9D6-6294-B2FD-CD52-15B1103E3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0568F-95AC-0C2A-9AA5-16375A6E6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2F0B5-FECA-4794-9F60-AEBB2870B002}" type="datetime1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0E36B-0DE2-6C72-848B-C2A035E0C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29C17-6036-C0C6-AD38-078861AE8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CEC28-A593-4026-B144-55F0241DB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119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A148F-8808-2D11-33B9-BB49E78C3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2BF042-4E7A-40B5-CF17-481E0A8E67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1CD0D-8AD9-00FF-27DE-D2F48CD4A5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C7D43-2F5B-AFF5-68C0-1C5867107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9A477-CB60-444B-B70C-BBDEE7C27143}" type="datetime1">
              <a:rPr lang="en-IN" smtClean="0"/>
              <a:t>22-07-2025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30E70-4CC2-5151-7063-69F9E1640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A0E45-1D2A-0A6E-C48D-9F044C9C9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CEC28-A593-4026-B144-55F0241DB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7496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F8108-2115-6104-4A12-CB89AE581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517AC-FC11-F754-CC62-05B4E12E3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A4E10-D44E-6ED7-C91C-6527E0298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E63BD-70F2-4C58-85A2-A317588798A7}" type="datetime1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8D09A-4EFD-9F85-D2C0-94A08D816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B7DCF-455C-06D6-7239-3C97E3135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CEC28-A593-4026-B144-55F0241DB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14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EC2A87-9053-8FEF-DDD1-7CF781C249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22C947-861D-BAB4-739C-6B80292DA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BF972-4C53-2412-BA03-98938499B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1F41-A89C-4E91-AF0B-C7D5874BF325}" type="datetime1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6F081-1217-EC0C-26E6-6E7922446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FF514-D7F3-4E91-14A6-3D47B7913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CEC28-A593-4026-B144-55F0241DB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944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16;p72">
            <a:extLst>
              <a:ext uri="{FF2B5EF4-FFF2-40B4-BE49-F238E27FC236}">
                <a16:creationId xmlns:a16="http://schemas.microsoft.com/office/drawing/2014/main" id="{9B00633C-2394-622E-9F0A-AD17BE1C836F}"/>
              </a:ext>
            </a:extLst>
          </p:cNvPr>
          <p:cNvSpPr txBox="1">
            <a:spLocks noGrp="1"/>
          </p:cNvSpPr>
          <p:nvPr>
            <p:ph type="sldNum" idx="10"/>
          </p:nvPr>
        </p:nvSpPr>
        <p:spPr>
          <a:xfrm>
            <a:off x="11296651" y="6218239"/>
            <a:ext cx="732367" cy="523875"/>
          </a:xfrm>
        </p:spPr>
        <p:txBody>
          <a:bodyPr wrap="square" lIns="91425" tIns="91425" rIns="91425" bIns="91425">
            <a:noAutofit/>
          </a:bodyPr>
          <a:lstStyle>
            <a:lvl1pPr>
              <a:buClr>
                <a:srgbClr val="000000"/>
              </a:buClr>
              <a:buSzPts val="1000"/>
              <a:buFont typeface="Arial" panose="020B0604020202020204" pitchFamily="34" charset="0"/>
              <a:buNone/>
              <a:defRPr sz="1000" b="0">
                <a:solidFill>
                  <a:srgbClr val="808080"/>
                </a:solidFill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5DB445E7-D834-48BD-A1D2-8CD052F6BA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7953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12776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071563"/>
            <a:ext cx="10464800" cy="4267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8D8EB-6767-F7E6-CF61-8045180205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A9A2F5-1275-4E51-A99B-2102ABC17278}" type="slidenum">
              <a:rPr lang="en-US" altLang="en-US"/>
              <a:pPr>
                <a:defRPr/>
              </a:pPr>
              <a:t>‹#›</a:t>
            </a:fld>
            <a:endParaRPr lang="en-US" altLang="en-US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6933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12776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071563"/>
            <a:ext cx="5130800" cy="426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48400" y="1071563"/>
            <a:ext cx="51308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48400" y="3281363"/>
            <a:ext cx="51308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72636-921E-87EE-45C5-7B552D8C2E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6E2D1F-732D-4652-A444-F5B1C65D6FE0}" type="slidenum">
              <a:rPr lang="en-US" altLang="en-US"/>
              <a:pPr>
                <a:defRPr/>
              </a:pPr>
              <a:t>‹#›</a:t>
            </a:fld>
            <a:endParaRPr lang="en-US" altLang="en-US" b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066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477F2C-4BEF-DC36-4599-481E87717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1CC71-9070-8D15-2E10-A3DE27DBC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3AA87-598F-1E93-5D1B-017F36A02A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E334E-2FBC-4B2F-B4C3-F9FBC138469B}" type="datetime1">
              <a:rPr lang="en-IN" smtClean="0"/>
              <a:t>22-07-2025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73F84-A991-B234-0569-6F50E0AB87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3F16B-3858-8BD5-4E2D-7E5090A95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4CEC28-A593-4026-B144-55F0241DBB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291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notesSlide" Target="../notesSlides/notesSlide1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notesSlide" Target="../notesSlides/notesSlide1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2B6F39-D616-813B-C331-B994BD554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12985" y="1913915"/>
            <a:ext cx="9144000" cy="1655762"/>
          </a:xfrm>
        </p:spPr>
        <p:txBody>
          <a:bodyPr>
            <a:normAutofit/>
          </a:bodyPr>
          <a:lstStyle/>
          <a:p>
            <a:r>
              <a:rPr lang="en-US" sz="4800" dirty="0"/>
              <a:t>SQL JOINS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857548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63CAD-93D1-D9A2-CECD-1F37398BF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AB825-B9FE-2ECE-DFED-FD993A281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Set Operations</a:t>
            </a:r>
          </a:p>
          <a:p>
            <a:endParaRPr lang="en-US" dirty="0"/>
          </a:p>
          <a:p>
            <a:r>
              <a:rPr lang="en-US" dirty="0"/>
              <a:t>String functions</a:t>
            </a:r>
          </a:p>
          <a:p>
            <a:endParaRPr lang="en-US" dirty="0"/>
          </a:p>
          <a:p>
            <a:r>
              <a:rPr lang="en-US" dirty="0"/>
              <a:t>Date and Time functions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7487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33D2A-52C7-D03F-2936-A9D62525C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731A3-0A4D-4798-47B1-7FC2E0EA9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MySQL JOIN is a fundamental feature that </a:t>
            </a:r>
            <a:r>
              <a:rPr lang="en-US" dirty="0">
                <a:solidFill>
                  <a:srgbClr val="FF0000"/>
                </a:solidFill>
              </a:rPr>
              <a:t>combines rows from two or more tables based on a related column between them.</a:t>
            </a:r>
          </a:p>
          <a:p>
            <a:endParaRPr lang="en-US" dirty="0"/>
          </a:p>
          <a:p>
            <a:r>
              <a:rPr lang="en-US" dirty="0"/>
              <a:t>SQL uses joins to combine tables horizontally.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produces results that can be compared to a DATA step merge.</a:t>
            </a:r>
          </a:p>
          <a:p>
            <a:pPr algn="just"/>
            <a:r>
              <a:rPr lang="en-US" dirty="0"/>
              <a:t>It allows for efficient data retrieval by enabling the </a:t>
            </a:r>
            <a:r>
              <a:rPr lang="en-US" dirty="0">
                <a:solidFill>
                  <a:srgbClr val="FF0000"/>
                </a:solidFill>
              </a:rPr>
              <a:t>extraction of related information from multiple tables in a single query.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2F132BDC-8C11-8480-B608-16F78A3AF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2523" y="3982998"/>
            <a:ext cx="4797377" cy="553998"/>
          </a:xfrm>
          <a:prstGeom prst="rect">
            <a:avLst/>
          </a:prstGeom>
          <a:solidFill>
            <a:srgbClr val="FF0066"/>
          </a:solidFill>
          <a:ln w="28575">
            <a:solidFill>
              <a:schemeClr val="tx2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tabLst>
                <a:tab pos="2520950" algn="l"/>
              </a:tabLst>
              <a:defRPr/>
            </a:pPr>
            <a:r>
              <a:rPr lang="en-US" sz="3000" dirty="0">
                <a:solidFill>
                  <a:srgbClr val="FFFFFF"/>
                </a:solidFill>
                <a:latin typeface="Arial"/>
                <a:cs typeface="+mn-cs"/>
              </a:rPr>
              <a:t>   Table A	Table B</a:t>
            </a:r>
            <a:endParaRPr lang="en-US" dirty="0">
              <a:solidFill>
                <a:srgbClr val="FFFFFF"/>
              </a:solidFill>
              <a:latin typeface="Arial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941C5C2-7B5E-EF48-C189-2BD80C1EC58F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5001212" y="3982998"/>
            <a:ext cx="0" cy="55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09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99FCA-7024-C812-C5DE-4142AECE2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Why joins instead of Set operations?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7880B-BAA4-C7F6-8F0D-38A1E404D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use set operations on same schema relations.</a:t>
            </a:r>
          </a:p>
          <a:p>
            <a:r>
              <a:rPr lang="en-US" dirty="0"/>
              <a:t>Set operations like union , intersect and except are used on 2 tables with same fields.</a:t>
            </a:r>
          </a:p>
          <a:p>
            <a:r>
              <a:rPr lang="en-US" dirty="0"/>
              <a:t>SQL uses set operators to combine tables vertically.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just"/>
            <a:r>
              <a:rPr lang="en-US" dirty="0"/>
              <a:t>This produces results that can be compared to a DATA step concatenation.</a:t>
            </a:r>
          </a:p>
          <a:p>
            <a:pPr algn="just"/>
            <a:r>
              <a:rPr lang="en-US" dirty="0"/>
              <a:t> No INTERSECT or EXCEPT in MySQL natively does not support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023162-1E40-74C1-DEAF-B4B9E26CC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65" y="3660153"/>
            <a:ext cx="3920068" cy="148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503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DB3FE-F4F1-A4D6-44D8-6929692D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Joins Vs Set 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EE47BF-7C93-901B-91C0-46697C23C7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2682796"/>
              </p:ext>
            </p:extLst>
          </p:nvPr>
        </p:nvGraphicFramePr>
        <p:xfrm>
          <a:off x="1116623" y="1533378"/>
          <a:ext cx="9434145" cy="4274091"/>
        </p:xfrm>
        <a:graphic>
          <a:graphicData uri="http://schemas.openxmlformats.org/drawingml/2006/table">
            <a:tbl>
              <a:tblPr/>
              <a:tblGrid>
                <a:gridCol w="2386232">
                  <a:extLst>
                    <a:ext uri="{9D8B030D-6E8A-4147-A177-3AD203B41FA5}">
                      <a16:colId xmlns:a16="http://schemas.microsoft.com/office/drawing/2014/main" val="1907663392"/>
                    </a:ext>
                  </a:extLst>
                </a:gridCol>
                <a:gridCol w="3094893">
                  <a:extLst>
                    <a:ext uri="{9D8B030D-6E8A-4147-A177-3AD203B41FA5}">
                      <a16:colId xmlns:a16="http://schemas.microsoft.com/office/drawing/2014/main" val="1949371061"/>
                    </a:ext>
                  </a:extLst>
                </a:gridCol>
                <a:gridCol w="3953020">
                  <a:extLst>
                    <a:ext uri="{9D8B030D-6E8A-4147-A177-3AD203B41FA5}">
                      <a16:colId xmlns:a16="http://schemas.microsoft.com/office/drawing/2014/main" val="2129701770"/>
                    </a:ext>
                  </a:extLst>
                </a:gridCol>
              </a:tblGrid>
              <a:tr h="526942"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IN" sz="2400" b="1" dirty="0">
                          <a:effectLst/>
                        </a:rPr>
                        <a:t>Feature</a:t>
                      </a:r>
                    </a:p>
                  </a:txBody>
                  <a:tcPr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IN" sz="2400" b="1" dirty="0">
                          <a:effectLst/>
                        </a:rPr>
                        <a:t>Joins</a:t>
                      </a:r>
                    </a:p>
                  </a:txBody>
                  <a:tcPr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4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lnSpc>
                          <a:spcPts val="1500"/>
                        </a:lnSpc>
                        <a:buNone/>
                      </a:pPr>
                      <a:r>
                        <a:rPr lang="en-IN" sz="2400" b="1" dirty="0">
                          <a:effectLst/>
                        </a:rPr>
                        <a:t>Set Operations</a:t>
                      </a:r>
                    </a:p>
                  </a:txBody>
                  <a:tcPr marB="1143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4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787797"/>
                  </a:ext>
                </a:extLst>
              </a:tr>
              <a:tr h="873147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2000">
                          <a:effectLst/>
                        </a:rPr>
                        <a:t>Combination</a:t>
                      </a:r>
                    </a:p>
                  </a:txBody>
                  <a:tcPr marT="114300" marB="1143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2000">
                          <a:effectLst/>
                        </a:rPr>
                        <a:t>Horizontal (side-by-side)</a:t>
                      </a:r>
                    </a:p>
                  </a:txBody>
                  <a:tcPr marT="114300" marB="1143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2000" dirty="0">
                          <a:effectLst/>
                        </a:rPr>
                        <a:t>Vertical (top to bottom)</a:t>
                      </a:r>
                    </a:p>
                  </a:txBody>
                  <a:tcPr marT="114300" marB="1143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483654"/>
                  </a:ext>
                </a:extLst>
              </a:tr>
              <a:tr h="873147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2000">
                          <a:effectLst/>
                        </a:rPr>
                        <a:t>Result Structure</a:t>
                      </a:r>
                    </a:p>
                  </a:txBody>
                  <a:tcPr marT="114300" marB="1143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Combines columns from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 different tables</a:t>
                      </a:r>
                    </a:p>
                  </a:txBody>
                  <a:tcPr marT="114300" marB="1143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2000" dirty="0">
                          <a:effectLst/>
                        </a:rPr>
                        <a:t>Combines rows from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IN" sz="2000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2000" dirty="0">
                          <a:effectLst/>
                        </a:rPr>
                        <a:t> different queries</a:t>
                      </a:r>
                    </a:p>
                  </a:txBody>
                  <a:tcPr marT="114300" marB="1143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099417"/>
                  </a:ext>
                </a:extLst>
              </a:tr>
              <a:tr h="873147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2000">
                          <a:effectLst/>
                        </a:rPr>
                        <a:t>Purpose</a:t>
                      </a:r>
                    </a:p>
                  </a:txBody>
                  <a:tcPr marT="114300" marB="1143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Retrieving related data from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tables</a:t>
                      </a:r>
                    </a:p>
                  </a:txBody>
                  <a:tcPr marT="114300" marB="1143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Combining results of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 multiple queries</a:t>
                      </a:r>
                    </a:p>
                  </a:txBody>
                  <a:tcPr marT="114300" marB="1143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160617"/>
                  </a:ext>
                </a:extLst>
              </a:tr>
              <a:tr h="1127708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IN" sz="2000">
                          <a:effectLst/>
                        </a:rPr>
                        <a:t>Example</a:t>
                      </a:r>
                    </a:p>
                  </a:txBody>
                  <a:tcPr marT="114300" marB="1143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Combining employee and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 department data</a:t>
                      </a:r>
                    </a:p>
                  </a:txBody>
                  <a:tcPr marT="114300" marB="1143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Combining lists of students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n-US" sz="2000" dirty="0">
                        <a:effectLst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sz="2000" dirty="0">
                          <a:effectLst/>
                        </a:rPr>
                        <a:t> from different years</a:t>
                      </a:r>
                    </a:p>
                  </a:txBody>
                  <a:tcPr marT="114300" marB="1143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3C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6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312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459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6A60F-1A3A-23C1-B549-2EEAB0126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9952"/>
          </a:xfrm>
        </p:spPr>
        <p:txBody>
          <a:bodyPr>
            <a:normAutofit fontScale="90000"/>
          </a:bodyPr>
          <a:lstStyle/>
          <a:p>
            <a:r>
              <a:rPr lang="en-IN" dirty="0"/>
              <a:t>MySQL JOIN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3AC59-F2CA-5F4B-73B2-CF09E115E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5078"/>
            <a:ext cx="10515600" cy="512188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400" dirty="0"/>
              <a:t>A MySQL JOIN is a method to combine data from two or more tables in a database based on a related column between them.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JOINs allow us to </a:t>
            </a:r>
            <a:r>
              <a:rPr lang="en-US" sz="2400" dirty="0">
                <a:solidFill>
                  <a:srgbClr val="FF0000"/>
                </a:solidFill>
              </a:rPr>
              <a:t>retrieve related data from multiple tables in a single query</a:t>
            </a:r>
            <a:r>
              <a:rPr lang="en-US" sz="2400" dirty="0"/>
              <a:t>, avoiding the need for numerous separate queries.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JOINs help </a:t>
            </a:r>
            <a:r>
              <a:rPr lang="en-US" sz="2400" dirty="0">
                <a:solidFill>
                  <a:srgbClr val="FF0000"/>
                </a:solidFill>
              </a:rPr>
              <a:t>maintain referential integrity </a:t>
            </a:r>
            <a:r>
              <a:rPr lang="en-US" sz="2400" dirty="0"/>
              <a:t>by ensuring that relationships between tables are respected and data consistency is preserved.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By allowing the </a:t>
            </a:r>
            <a:r>
              <a:rPr lang="en-US" sz="2400" dirty="0">
                <a:solidFill>
                  <a:srgbClr val="FF0000"/>
                </a:solidFill>
              </a:rPr>
              <a:t>use of normalized database structures </a:t>
            </a:r>
            <a:r>
              <a:rPr lang="en-US" sz="2400" dirty="0"/>
              <a:t>(where data is split into different tables to reduce redundancy), JOINs help in efficiently managing and organizing data.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JOINs are often </a:t>
            </a:r>
            <a:r>
              <a:rPr lang="en-US" sz="2400" dirty="0">
                <a:solidFill>
                  <a:srgbClr val="FF0000"/>
                </a:solidFill>
              </a:rPr>
              <a:t>used in conjunction with GROUP BY and aggregation functions </a:t>
            </a:r>
            <a:r>
              <a:rPr lang="en-US" sz="2400" dirty="0"/>
              <a:t>(like COUNT, SUM, AVG) to perform comprehensive data analysis.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94347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8362F-B657-2B89-746E-91442358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Joins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4E0FB08-526A-4F17-291E-E930F7CBDB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1" y="1544270"/>
            <a:ext cx="8643424" cy="474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45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1104-D45F-BCAF-BB0F-33083600E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9ACCE-606F-024D-6B2F-D91BF9610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55105" cy="4351338"/>
          </a:xfrm>
        </p:spPr>
        <p:txBody>
          <a:bodyPr/>
          <a:lstStyle/>
          <a:p>
            <a:r>
              <a:rPr lang="en-US" dirty="0"/>
              <a:t>SQL supports two types of joins:</a:t>
            </a:r>
          </a:p>
          <a:p>
            <a:pPr lvl="1"/>
            <a:r>
              <a:rPr lang="en-US" dirty="0"/>
              <a:t>Inner joins</a:t>
            </a:r>
          </a:p>
          <a:p>
            <a:pPr lvl="1"/>
            <a:r>
              <a:rPr lang="en-US" dirty="0"/>
              <a:t>Outer joins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8EB52D-B619-F3E1-D991-1F7C33A75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737" y="3320611"/>
            <a:ext cx="7431640" cy="299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9639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15A7-9C35-C177-2549-BB6680C2E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Inner joins 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CEA7A45-C65E-ED90-3BED-FFC889F0DB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47249" y="815927"/>
            <a:ext cx="6625883" cy="56769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C159AC-6351-AA4D-F3D2-AE825B3F5AA0}"/>
              </a:ext>
            </a:extLst>
          </p:cNvPr>
          <p:cNvSpPr txBox="1"/>
          <p:nvPr/>
        </p:nvSpPr>
        <p:spPr>
          <a:xfrm>
            <a:off x="488852" y="2228671"/>
            <a:ext cx="451924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It Returns records that have </a:t>
            </a:r>
            <a:r>
              <a:rPr lang="en-US" sz="2800" dirty="0">
                <a:solidFill>
                  <a:srgbClr val="FF0000"/>
                </a:solidFill>
              </a:rPr>
              <a:t>matching values in both tables.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Enable a maximum of 256 tables to be joined </a:t>
            </a:r>
            <a:br>
              <a:rPr lang="en-US" sz="2800" dirty="0"/>
            </a:br>
            <a:r>
              <a:rPr lang="en-US" sz="2800" dirty="0"/>
              <a:t>at the same time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32872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1E3D4-CB81-2D63-4303-2DA18B474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Outer Join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63E54-306F-17F4-D7C8-C1E2471E6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Return all matching rows, plus nonmatching rows </a:t>
            </a:r>
            <a:br>
              <a:rPr lang="en-US" dirty="0"/>
            </a:br>
            <a:r>
              <a:rPr lang="en-US" dirty="0"/>
              <a:t>from one or both tables</a:t>
            </a:r>
          </a:p>
          <a:p>
            <a:r>
              <a:rPr lang="en-US" dirty="0"/>
              <a:t>Can be performed on only two tables or views </a:t>
            </a:r>
            <a:br>
              <a:rPr lang="en-US" dirty="0"/>
            </a:br>
            <a:r>
              <a:rPr lang="en-US" dirty="0"/>
              <a:t>at a time.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107684-B020-A6FF-721A-7271852B2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987" y="3742006"/>
            <a:ext cx="8623495" cy="275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210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57DBE-FCC6-56AD-7467-152B4D344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Cartesian Product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E192DB-20E3-960B-55E2-E0ECDD363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algn="just"/>
            <a:r>
              <a:rPr lang="en-US" dirty="0"/>
              <a:t>A Cartesian product is generated when you combine every row from one table with every row from another table.</a:t>
            </a:r>
          </a:p>
          <a:p>
            <a:pPr algn="just"/>
            <a:r>
              <a:rPr lang="en-US" dirty="0"/>
              <a:t>A query that lists multiple tables in the FROM clause without a WHERE clause produces all possible combinations of rows from all tables. This result is called the Cartesian product.</a:t>
            </a:r>
          </a:p>
          <a:p>
            <a:endParaRPr lang="en-IN" dirty="0"/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9D7AFC47-41AB-ED2E-637C-7146F9789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402" y="4637844"/>
            <a:ext cx="4739152" cy="762000"/>
          </a:xfrm>
          <a:prstGeom prst="rect">
            <a:avLst/>
          </a:prstGeom>
          <a:solidFill>
            <a:srgbClr val="FFFFFF"/>
          </a:solidFill>
          <a:ln w="38100">
            <a:solidFill>
              <a:srgbClr val="FF0066"/>
            </a:solidFill>
            <a:miter lim="800000"/>
            <a:headEnd type="none" w="sm" len="sm"/>
            <a:tailEnd type="none" w="sm" len="sm"/>
          </a:ln>
        </p:spPr>
        <p:txBody>
          <a:bodyPr wrap="square" lIns="50800" tIns="50800" rIns="50800" bIns="5080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Font typeface="Monotype Sorts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select *</a:t>
            </a:r>
            <a:br>
              <a:rPr lang="en-US" altLang="en-US" b="1" dirty="0">
                <a:latin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</a:rPr>
              <a:t>   from one, two;</a:t>
            </a:r>
          </a:p>
        </p:txBody>
      </p:sp>
    </p:spTree>
    <p:extLst>
      <p:ext uri="{BB962C8B-B14F-4D97-AF65-F5344CB8AC3E}">
        <p14:creationId xmlns:p14="http://schemas.microsoft.com/office/powerpoint/2010/main" val="1545346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33044FD-A17B-F82C-99F9-818F00EFDD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Cartesian Product</a:t>
            </a:r>
          </a:p>
        </p:txBody>
      </p:sp>
      <p:graphicFrame>
        <p:nvGraphicFramePr>
          <p:cNvPr id="161074" name="Group 306">
            <a:extLst>
              <a:ext uri="{FF2B5EF4-FFF2-40B4-BE49-F238E27FC236}">
                <a16:creationId xmlns:a16="http://schemas.microsoft.com/office/drawing/2014/main" id="{179564B7-B34D-ABB1-46BD-38359FED954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71278758"/>
              </p:ext>
            </p:extLst>
          </p:nvPr>
        </p:nvGraphicFramePr>
        <p:xfrm>
          <a:off x="1447799" y="2560320"/>
          <a:ext cx="2603695" cy="2208627"/>
        </p:xfrm>
        <a:graphic>
          <a:graphicData uri="http://schemas.openxmlformats.org/drawingml/2006/table">
            <a:tbl>
              <a:tblPr/>
              <a:tblGrid>
                <a:gridCol w="1250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3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5278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06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06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06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15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1075" name="Group 307">
            <a:extLst>
              <a:ext uri="{FF2B5EF4-FFF2-40B4-BE49-F238E27FC236}">
                <a16:creationId xmlns:a16="http://schemas.microsoft.com/office/drawing/2014/main" id="{8B96303F-2AC8-9127-3BC0-46EA22E28F4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39417727"/>
              </p:ext>
            </p:extLst>
          </p:nvPr>
        </p:nvGraphicFramePr>
        <p:xfrm>
          <a:off x="6096001" y="2290690"/>
          <a:ext cx="2752578" cy="2618935"/>
        </p:xfrm>
        <a:graphic>
          <a:graphicData uri="http://schemas.openxmlformats.org/drawingml/2006/table">
            <a:tbl>
              <a:tblPr/>
              <a:tblGrid>
                <a:gridCol w="1320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2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457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54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59DC554-4AC6-82CA-CBED-01245B2420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Cartesian Product</a:t>
            </a:r>
          </a:p>
        </p:txBody>
      </p:sp>
      <p:graphicFrame>
        <p:nvGraphicFramePr>
          <p:cNvPr id="165185" name="Group 321">
            <a:extLst>
              <a:ext uri="{FF2B5EF4-FFF2-40B4-BE49-F238E27FC236}">
                <a16:creationId xmlns:a16="http://schemas.microsoft.com/office/drawing/2014/main" id="{F8B05F8B-51BA-5411-F910-9CCBAE35D55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84380573"/>
              </p:ext>
            </p:extLst>
          </p:nvPr>
        </p:nvGraphicFramePr>
        <p:xfrm>
          <a:off x="1828800" y="1885950"/>
          <a:ext cx="1524000" cy="1598780"/>
        </p:xfrm>
        <a:graphic>
          <a:graphicData uri="http://schemas.openxmlformats.org/drawingml/2006/table">
            <a:tbl>
              <a:tblPr/>
              <a:tblGrid>
                <a:gridCol w="73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12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6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5187" name="Group 323">
            <a:extLst>
              <a:ext uri="{FF2B5EF4-FFF2-40B4-BE49-F238E27FC236}">
                <a16:creationId xmlns:a16="http://schemas.microsoft.com/office/drawing/2014/main" id="{34C48C0C-B3D6-974D-FF63-74CE2517DE9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878044056"/>
              </p:ext>
            </p:extLst>
          </p:nvPr>
        </p:nvGraphicFramePr>
        <p:xfrm>
          <a:off x="6958012" y="1889291"/>
          <a:ext cx="2087514" cy="1595439"/>
        </p:xfrm>
        <a:graphic>
          <a:graphicData uri="http://schemas.openxmlformats.org/drawingml/2006/table">
            <a:tbl>
              <a:tblPr/>
              <a:tblGrid>
                <a:gridCol w="1001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6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5186" name="Group 322">
            <a:extLst>
              <a:ext uri="{FF2B5EF4-FFF2-40B4-BE49-F238E27FC236}">
                <a16:creationId xmlns:a16="http://schemas.microsoft.com/office/drawing/2014/main" id="{9AE77190-F417-DDD2-940E-1CF9D9343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771157"/>
              </p:ext>
            </p:extLst>
          </p:nvPr>
        </p:nvGraphicFramePr>
        <p:xfrm>
          <a:off x="3964536" y="3996689"/>
          <a:ext cx="2380152" cy="1194285"/>
        </p:xfrm>
        <a:graphic>
          <a:graphicData uri="http://schemas.openxmlformats.org/drawingml/2006/table">
            <a:tbl>
              <a:tblPr/>
              <a:tblGrid>
                <a:gridCol w="658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6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857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Result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21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21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9755" name="Line 130">
            <a:extLst>
              <a:ext uri="{FF2B5EF4-FFF2-40B4-BE49-F238E27FC236}">
                <a16:creationId xmlns:a16="http://schemas.microsoft.com/office/drawing/2014/main" id="{9BD7D0E4-B926-9B73-ECF9-A36FA8044E1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2800" y="2678775"/>
            <a:ext cx="360362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E52EF772-4DCE-982E-4407-4BADFD6A85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Cartesian Product</a:t>
            </a:r>
          </a:p>
        </p:txBody>
      </p:sp>
      <p:graphicFrame>
        <p:nvGraphicFramePr>
          <p:cNvPr id="164174" name="Group 334">
            <a:extLst>
              <a:ext uri="{FF2B5EF4-FFF2-40B4-BE49-F238E27FC236}">
                <a16:creationId xmlns:a16="http://schemas.microsoft.com/office/drawing/2014/main" id="{231CD4C3-D81C-AD97-5701-6EEA3C68CF5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03599848"/>
              </p:ext>
            </p:extLst>
          </p:nvPr>
        </p:nvGraphicFramePr>
        <p:xfrm>
          <a:off x="2124222" y="2192217"/>
          <a:ext cx="1524000" cy="1598780"/>
        </p:xfrm>
        <a:graphic>
          <a:graphicData uri="http://schemas.openxmlformats.org/drawingml/2006/table">
            <a:tbl>
              <a:tblPr/>
              <a:tblGrid>
                <a:gridCol w="73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12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6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4176" name="Group 336">
            <a:extLst>
              <a:ext uri="{FF2B5EF4-FFF2-40B4-BE49-F238E27FC236}">
                <a16:creationId xmlns:a16="http://schemas.microsoft.com/office/drawing/2014/main" id="{88B06B28-0746-F72B-EC45-316E5A9DBDD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10846292"/>
              </p:ext>
            </p:extLst>
          </p:nvPr>
        </p:nvGraphicFramePr>
        <p:xfrm>
          <a:off x="7248673" y="2193805"/>
          <a:ext cx="1522413" cy="1595439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4175" name="Group 335">
            <a:extLst>
              <a:ext uri="{FF2B5EF4-FFF2-40B4-BE49-F238E27FC236}">
                <a16:creationId xmlns:a16="http://schemas.microsoft.com/office/drawing/2014/main" id="{3A6C4111-C9DC-61F3-76F9-E64917215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228121"/>
              </p:ext>
            </p:extLst>
          </p:nvPr>
        </p:nvGraphicFramePr>
        <p:xfrm>
          <a:off x="4494361" y="3881317"/>
          <a:ext cx="1768475" cy="128016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579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Result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64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64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64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808" name="Line 145">
            <a:extLst>
              <a:ext uri="{FF2B5EF4-FFF2-40B4-BE49-F238E27FC236}">
                <a16:creationId xmlns:a16="http://schemas.microsoft.com/office/drawing/2014/main" id="{B31126AA-B53F-B894-9C46-67B2925D66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43461" y="3011367"/>
            <a:ext cx="3622675" cy="3206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FA5B23D0-2C89-61DF-7F40-A61B7A8E47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Cartesian Product</a:t>
            </a:r>
          </a:p>
        </p:txBody>
      </p:sp>
      <p:graphicFrame>
        <p:nvGraphicFramePr>
          <p:cNvPr id="163165" name="Group 349">
            <a:extLst>
              <a:ext uri="{FF2B5EF4-FFF2-40B4-BE49-F238E27FC236}">
                <a16:creationId xmlns:a16="http://schemas.microsoft.com/office/drawing/2014/main" id="{CE501C3B-BEA6-EB39-2387-7B3C58DFC49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5140380"/>
              </p:ext>
            </p:extLst>
          </p:nvPr>
        </p:nvGraphicFramePr>
        <p:xfrm>
          <a:off x="1997613" y="2370614"/>
          <a:ext cx="1524000" cy="1598780"/>
        </p:xfrm>
        <a:graphic>
          <a:graphicData uri="http://schemas.openxmlformats.org/drawingml/2006/table">
            <a:tbl>
              <a:tblPr/>
              <a:tblGrid>
                <a:gridCol w="73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12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6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3167" name="Group 351">
            <a:extLst>
              <a:ext uri="{FF2B5EF4-FFF2-40B4-BE49-F238E27FC236}">
                <a16:creationId xmlns:a16="http://schemas.microsoft.com/office/drawing/2014/main" id="{39C8D00B-CFC4-BB2B-9FD6-1B419431D30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76959948"/>
              </p:ext>
            </p:extLst>
          </p:nvPr>
        </p:nvGraphicFramePr>
        <p:xfrm>
          <a:off x="7122064" y="2372202"/>
          <a:ext cx="1522413" cy="1595439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3166" name="Group 350">
            <a:extLst>
              <a:ext uri="{FF2B5EF4-FFF2-40B4-BE49-F238E27FC236}">
                <a16:creationId xmlns:a16="http://schemas.microsoft.com/office/drawing/2014/main" id="{C1FBFB97-4761-9431-DEA1-01886AF78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472450"/>
              </p:ext>
            </p:extLst>
          </p:nvPr>
        </p:nvGraphicFramePr>
        <p:xfrm>
          <a:off x="4367752" y="4059714"/>
          <a:ext cx="1768475" cy="158496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13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Result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6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6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6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6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861" name="Line 160">
            <a:extLst>
              <a:ext uri="{FF2B5EF4-FFF2-40B4-BE49-F238E27FC236}">
                <a16:creationId xmlns:a16="http://schemas.microsoft.com/office/drawing/2014/main" id="{68304E24-E8E4-CC1E-0B78-087F0311ABC1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6851" y="3208814"/>
            <a:ext cx="3605212" cy="6127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 type="non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8FEBEC2-9F12-D34F-9425-D4F82E716F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Cartesian Product</a:t>
            </a:r>
          </a:p>
        </p:txBody>
      </p:sp>
      <p:graphicFrame>
        <p:nvGraphicFramePr>
          <p:cNvPr id="156079" name="Group 431">
            <a:extLst>
              <a:ext uri="{FF2B5EF4-FFF2-40B4-BE49-F238E27FC236}">
                <a16:creationId xmlns:a16="http://schemas.microsoft.com/office/drawing/2014/main" id="{1513EA6A-636F-374A-DBDB-EE101756B8E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640790441"/>
              </p:ext>
            </p:extLst>
          </p:nvPr>
        </p:nvGraphicFramePr>
        <p:xfrm>
          <a:off x="2096086" y="2281714"/>
          <a:ext cx="1524000" cy="1598780"/>
        </p:xfrm>
        <a:graphic>
          <a:graphicData uri="http://schemas.openxmlformats.org/drawingml/2006/table">
            <a:tbl>
              <a:tblPr/>
              <a:tblGrid>
                <a:gridCol w="73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12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6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6081" name="Group 433">
            <a:extLst>
              <a:ext uri="{FF2B5EF4-FFF2-40B4-BE49-F238E27FC236}">
                <a16:creationId xmlns:a16="http://schemas.microsoft.com/office/drawing/2014/main" id="{8D9B7F08-EC9C-593E-991B-AD0F28425B1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36611105"/>
              </p:ext>
            </p:extLst>
          </p:nvPr>
        </p:nvGraphicFramePr>
        <p:xfrm>
          <a:off x="7220537" y="2283302"/>
          <a:ext cx="1522413" cy="1595439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6080" name="Group 432">
            <a:extLst>
              <a:ext uri="{FF2B5EF4-FFF2-40B4-BE49-F238E27FC236}">
                <a16:creationId xmlns:a16="http://schemas.microsoft.com/office/drawing/2014/main" id="{2147D384-203C-0266-7D9F-9D2100E7A5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0293628"/>
              </p:ext>
            </p:extLst>
          </p:nvPr>
        </p:nvGraphicFramePr>
        <p:xfrm>
          <a:off x="4466225" y="3970814"/>
          <a:ext cx="1768475" cy="188976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37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Result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69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69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69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69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69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915" name="Line 382">
            <a:extLst>
              <a:ext uri="{FF2B5EF4-FFF2-40B4-BE49-F238E27FC236}">
                <a16:creationId xmlns:a16="http://schemas.microsoft.com/office/drawing/2014/main" id="{1D912EA8-B832-902B-EDCB-9A2F5F8265F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86749" y="3110389"/>
            <a:ext cx="3611562" cy="301625"/>
          </a:xfrm>
          <a:prstGeom prst="line">
            <a:avLst/>
          </a:prstGeom>
          <a:noFill/>
          <a:ln w="38100">
            <a:solidFill>
              <a:srgbClr val="6699FF"/>
            </a:solidFill>
            <a:round/>
            <a:headEnd type="non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3DD3DE6A-C8A2-1BD5-A782-799B7B0EA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Cartesian Product</a:t>
            </a:r>
          </a:p>
        </p:txBody>
      </p:sp>
      <p:graphicFrame>
        <p:nvGraphicFramePr>
          <p:cNvPr id="159100" name="Group 380">
            <a:extLst>
              <a:ext uri="{FF2B5EF4-FFF2-40B4-BE49-F238E27FC236}">
                <a16:creationId xmlns:a16="http://schemas.microsoft.com/office/drawing/2014/main" id="{3F25B53B-923F-D096-12EF-158E287C1D3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94258431"/>
              </p:ext>
            </p:extLst>
          </p:nvPr>
        </p:nvGraphicFramePr>
        <p:xfrm>
          <a:off x="2082019" y="2197100"/>
          <a:ext cx="1524000" cy="1598780"/>
        </p:xfrm>
        <a:graphic>
          <a:graphicData uri="http://schemas.openxmlformats.org/drawingml/2006/table">
            <a:tbl>
              <a:tblPr/>
              <a:tblGrid>
                <a:gridCol w="73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12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6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9102" name="Group 382">
            <a:extLst>
              <a:ext uri="{FF2B5EF4-FFF2-40B4-BE49-F238E27FC236}">
                <a16:creationId xmlns:a16="http://schemas.microsoft.com/office/drawing/2014/main" id="{C0DF7AED-8CD7-41E1-890A-E5F506216CD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00352934"/>
              </p:ext>
            </p:extLst>
          </p:nvPr>
        </p:nvGraphicFramePr>
        <p:xfrm>
          <a:off x="7206470" y="2198688"/>
          <a:ext cx="1522413" cy="1595439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9101" name="Group 381">
            <a:extLst>
              <a:ext uri="{FF2B5EF4-FFF2-40B4-BE49-F238E27FC236}">
                <a16:creationId xmlns:a16="http://schemas.microsoft.com/office/drawing/2014/main" id="{1C19326F-3FD6-D317-3549-78808E38D3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601751"/>
              </p:ext>
            </p:extLst>
          </p:nvPr>
        </p:nvGraphicFramePr>
        <p:xfrm>
          <a:off x="4452158" y="3886200"/>
          <a:ext cx="1768475" cy="219456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54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Result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1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1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1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1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1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12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967" name="Line 190">
            <a:extLst>
              <a:ext uri="{FF2B5EF4-FFF2-40B4-BE49-F238E27FC236}">
                <a16:creationId xmlns:a16="http://schemas.microsoft.com/office/drawing/2014/main" id="{C6D5A4C8-FDFC-1F94-8874-497DC0AE84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2208" y="3322515"/>
            <a:ext cx="3624262" cy="0"/>
          </a:xfrm>
          <a:prstGeom prst="line">
            <a:avLst/>
          </a:prstGeom>
          <a:noFill/>
          <a:ln w="38100">
            <a:solidFill>
              <a:srgbClr val="6699FF"/>
            </a:solidFill>
            <a:round/>
            <a:headEnd type="non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D094EC4-21BC-68FB-8211-A1114013E6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Cartesian Product</a:t>
            </a:r>
          </a:p>
        </p:txBody>
      </p:sp>
      <p:graphicFrame>
        <p:nvGraphicFramePr>
          <p:cNvPr id="158113" name="Group 417">
            <a:extLst>
              <a:ext uri="{FF2B5EF4-FFF2-40B4-BE49-F238E27FC236}">
                <a16:creationId xmlns:a16="http://schemas.microsoft.com/office/drawing/2014/main" id="{A973FAA7-2A76-F8DC-90AF-F2EEEDC91BF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27705651"/>
              </p:ext>
            </p:extLst>
          </p:nvPr>
        </p:nvGraphicFramePr>
        <p:xfrm>
          <a:off x="2250831" y="2136141"/>
          <a:ext cx="1524000" cy="1598780"/>
        </p:xfrm>
        <a:graphic>
          <a:graphicData uri="http://schemas.openxmlformats.org/drawingml/2006/table">
            <a:tbl>
              <a:tblPr/>
              <a:tblGrid>
                <a:gridCol w="73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12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6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8115" name="Group 419">
            <a:extLst>
              <a:ext uri="{FF2B5EF4-FFF2-40B4-BE49-F238E27FC236}">
                <a16:creationId xmlns:a16="http://schemas.microsoft.com/office/drawing/2014/main" id="{C1C804C8-A91E-536C-DC2B-927ED1CB83C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4176913"/>
              </p:ext>
            </p:extLst>
          </p:nvPr>
        </p:nvGraphicFramePr>
        <p:xfrm>
          <a:off x="7375282" y="2137729"/>
          <a:ext cx="1522413" cy="1595439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8114" name="Group 418">
            <a:extLst>
              <a:ext uri="{FF2B5EF4-FFF2-40B4-BE49-F238E27FC236}">
                <a16:creationId xmlns:a16="http://schemas.microsoft.com/office/drawing/2014/main" id="{4684CF63-B4DC-191E-4740-3BE0A4933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946306"/>
              </p:ext>
            </p:extLst>
          </p:nvPr>
        </p:nvGraphicFramePr>
        <p:xfrm>
          <a:off x="4620970" y="3825241"/>
          <a:ext cx="1768475" cy="249936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67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Result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2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2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2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2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2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2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2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0020" name="Line 205">
            <a:extLst>
              <a:ext uri="{FF2B5EF4-FFF2-40B4-BE49-F238E27FC236}">
                <a16:creationId xmlns:a16="http://schemas.microsoft.com/office/drawing/2014/main" id="{892427FD-A8FD-C1DD-58DC-FC33757ED3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1494" y="3266441"/>
            <a:ext cx="3624262" cy="320675"/>
          </a:xfrm>
          <a:prstGeom prst="line">
            <a:avLst/>
          </a:prstGeom>
          <a:noFill/>
          <a:ln w="38100">
            <a:solidFill>
              <a:srgbClr val="6699FF"/>
            </a:solidFill>
            <a:round/>
            <a:headEnd type="non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77C73E4B-0AB2-23B1-2A45-5593EA55F7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Cartesian Product</a:t>
            </a:r>
          </a:p>
        </p:txBody>
      </p:sp>
      <p:graphicFrame>
        <p:nvGraphicFramePr>
          <p:cNvPr id="157083" name="Group 411">
            <a:extLst>
              <a:ext uri="{FF2B5EF4-FFF2-40B4-BE49-F238E27FC236}">
                <a16:creationId xmlns:a16="http://schemas.microsoft.com/office/drawing/2014/main" id="{B5733A5A-24F4-21A8-C804-03709266014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515531044"/>
              </p:ext>
            </p:extLst>
          </p:nvPr>
        </p:nvGraphicFramePr>
        <p:xfrm>
          <a:off x="2419643" y="1999615"/>
          <a:ext cx="1524000" cy="1584960"/>
        </p:xfrm>
        <a:graphic>
          <a:graphicData uri="http://schemas.openxmlformats.org/drawingml/2006/table">
            <a:tbl>
              <a:tblPr/>
              <a:tblGrid>
                <a:gridCol w="73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12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7085" name="Group 413">
            <a:extLst>
              <a:ext uri="{FF2B5EF4-FFF2-40B4-BE49-F238E27FC236}">
                <a16:creationId xmlns:a16="http://schemas.microsoft.com/office/drawing/2014/main" id="{F10613E7-3A74-C421-6644-96872762997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89148181"/>
              </p:ext>
            </p:extLst>
          </p:nvPr>
        </p:nvGraphicFramePr>
        <p:xfrm>
          <a:off x="7544094" y="2001203"/>
          <a:ext cx="1522413" cy="1595439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7084" name="Group 412">
            <a:extLst>
              <a:ext uri="{FF2B5EF4-FFF2-40B4-BE49-F238E27FC236}">
                <a16:creationId xmlns:a16="http://schemas.microsoft.com/office/drawing/2014/main" id="{41B26350-4D49-78AE-3F55-8CEC207DAE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77724"/>
              </p:ext>
            </p:extLst>
          </p:nvPr>
        </p:nvGraphicFramePr>
        <p:xfrm>
          <a:off x="4789782" y="3688715"/>
          <a:ext cx="1768475" cy="280416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77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Result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731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2073" name="Line 220">
            <a:extLst>
              <a:ext uri="{FF2B5EF4-FFF2-40B4-BE49-F238E27FC236}">
                <a16:creationId xmlns:a16="http://schemas.microsoft.com/office/drawing/2014/main" id="{2FF8FA03-E3DF-0E81-2A6A-F8D973F51A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10307" y="2828290"/>
            <a:ext cx="3633787" cy="612775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 type="non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985CFC6D-3E7D-11DD-0867-AE9839618A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Cartesian Product</a:t>
            </a:r>
          </a:p>
        </p:txBody>
      </p:sp>
      <p:graphicFrame>
        <p:nvGraphicFramePr>
          <p:cNvPr id="155065" name="Group 441">
            <a:extLst>
              <a:ext uri="{FF2B5EF4-FFF2-40B4-BE49-F238E27FC236}">
                <a16:creationId xmlns:a16="http://schemas.microsoft.com/office/drawing/2014/main" id="{39AEEE87-B5A1-FC16-39D7-D4A0B323C75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43791167"/>
              </p:ext>
            </p:extLst>
          </p:nvPr>
        </p:nvGraphicFramePr>
        <p:xfrm>
          <a:off x="1856936" y="1693510"/>
          <a:ext cx="1524000" cy="1598780"/>
        </p:xfrm>
        <a:graphic>
          <a:graphicData uri="http://schemas.openxmlformats.org/drawingml/2006/table">
            <a:tbl>
              <a:tblPr/>
              <a:tblGrid>
                <a:gridCol w="73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12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6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5067" name="Group 443">
            <a:extLst>
              <a:ext uri="{FF2B5EF4-FFF2-40B4-BE49-F238E27FC236}">
                <a16:creationId xmlns:a16="http://schemas.microsoft.com/office/drawing/2014/main" id="{B949D282-5257-5701-AAD6-6C90F45A126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58427259"/>
              </p:ext>
            </p:extLst>
          </p:nvPr>
        </p:nvGraphicFramePr>
        <p:xfrm>
          <a:off x="6981387" y="1695098"/>
          <a:ext cx="1522413" cy="1595439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5066" name="Group 442">
            <a:extLst>
              <a:ext uri="{FF2B5EF4-FFF2-40B4-BE49-F238E27FC236}">
                <a16:creationId xmlns:a16="http://schemas.microsoft.com/office/drawing/2014/main" id="{7F7438A1-AA76-15BD-5162-59614259F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574973"/>
              </p:ext>
            </p:extLst>
          </p:nvPr>
        </p:nvGraphicFramePr>
        <p:xfrm>
          <a:off x="4227075" y="3382610"/>
          <a:ext cx="1768475" cy="3110265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85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Result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10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7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4126" name="Line 250">
            <a:extLst>
              <a:ext uri="{FF2B5EF4-FFF2-40B4-BE49-F238E27FC236}">
                <a16:creationId xmlns:a16="http://schemas.microsoft.com/office/drawing/2014/main" id="{0F02C99C-F82E-3DA0-7952-095119F2CC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47599" y="2823809"/>
            <a:ext cx="3651250" cy="311150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 type="non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8">
            <a:extLst>
              <a:ext uri="{FF2B5EF4-FFF2-40B4-BE49-F238E27FC236}">
                <a16:creationId xmlns:a16="http://schemas.microsoft.com/office/drawing/2014/main" id="{562D9ECE-53FD-0EC7-8CDF-E6B8715B13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Cartesian Product</a:t>
            </a:r>
          </a:p>
        </p:txBody>
      </p:sp>
      <p:graphicFrame>
        <p:nvGraphicFramePr>
          <p:cNvPr id="325721" name="Group 1113">
            <a:extLst>
              <a:ext uri="{FF2B5EF4-FFF2-40B4-BE49-F238E27FC236}">
                <a16:creationId xmlns:a16="http://schemas.microsoft.com/office/drawing/2014/main" id="{F2CB7D18-5F0D-3B5D-D57A-5225A3CB5A5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7801505"/>
              </p:ext>
            </p:extLst>
          </p:nvPr>
        </p:nvGraphicFramePr>
        <p:xfrm>
          <a:off x="2321169" y="1644016"/>
          <a:ext cx="1524000" cy="1598780"/>
        </p:xfrm>
        <a:graphic>
          <a:graphicData uri="http://schemas.openxmlformats.org/drawingml/2006/table">
            <a:tbl>
              <a:tblPr/>
              <a:tblGrid>
                <a:gridCol w="73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12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6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5723" name="Group 1115">
            <a:extLst>
              <a:ext uri="{FF2B5EF4-FFF2-40B4-BE49-F238E27FC236}">
                <a16:creationId xmlns:a16="http://schemas.microsoft.com/office/drawing/2014/main" id="{1CC5C0FE-1AB8-17D2-DBBA-3F454B4562B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14578474"/>
              </p:ext>
            </p:extLst>
          </p:nvPr>
        </p:nvGraphicFramePr>
        <p:xfrm>
          <a:off x="7445620" y="1645604"/>
          <a:ext cx="1522413" cy="1595439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25722" name="Group 1114">
            <a:extLst>
              <a:ext uri="{FF2B5EF4-FFF2-40B4-BE49-F238E27FC236}">
                <a16:creationId xmlns:a16="http://schemas.microsoft.com/office/drawing/2014/main" id="{745E5588-164F-A361-1032-A8D19011A3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456721"/>
              </p:ext>
            </p:extLst>
          </p:nvPr>
        </p:nvGraphicFramePr>
        <p:xfrm>
          <a:off x="4691308" y="3333116"/>
          <a:ext cx="1768475" cy="341376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92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Result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5155" name="Line 919">
            <a:extLst>
              <a:ext uri="{FF2B5EF4-FFF2-40B4-BE49-F238E27FC236}">
                <a16:creationId xmlns:a16="http://schemas.microsoft.com/office/drawing/2014/main" id="{AC81AE12-27F4-6A81-B9E3-271B72C272C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1833" y="3085465"/>
            <a:ext cx="3622675" cy="0"/>
          </a:xfrm>
          <a:prstGeom prst="line">
            <a:avLst/>
          </a:prstGeom>
          <a:noFill/>
          <a:ln w="38100">
            <a:solidFill>
              <a:srgbClr val="800080"/>
            </a:solidFill>
            <a:round/>
            <a:headEnd type="non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8900" tIns="88900" rIns="88900" bIns="88900"/>
          <a:lstStyle/>
          <a:p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E65D4917-A9B4-E3B3-29EF-3FC3C2C170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Cartesian Product</a:t>
            </a:r>
          </a:p>
        </p:txBody>
      </p:sp>
      <p:graphicFrame>
        <p:nvGraphicFramePr>
          <p:cNvPr id="166340" name="Group 452">
            <a:extLst>
              <a:ext uri="{FF2B5EF4-FFF2-40B4-BE49-F238E27FC236}">
                <a16:creationId xmlns:a16="http://schemas.microsoft.com/office/drawing/2014/main" id="{23CBCAA2-90DC-12E8-ACA5-611FB5B9786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82121698"/>
              </p:ext>
            </p:extLst>
          </p:nvPr>
        </p:nvGraphicFramePr>
        <p:xfrm>
          <a:off x="2349305" y="1519714"/>
          <a:ext cx="1524000" cy="1598780"/>
        </p:xfrm>
        <a:graphic>
          <a:graphicData uri="http://schemas.openxmlformats.org/drawingml/2006/table">
            <a:tbl>
              <a:tblPr/>
              <a:tblGrid>
                <a:gridCol w="73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12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6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6342" name="Group 454">
            <a:extLst>
              <a:ext uri="{FF2B5EF4-FFF2-40B4-BE49-F238E27FC236}">
                <a16:creationId xmlns:a16="http://schemas.microsoft.com/office/drawing/2014/main" id="{4BD88016-B43C-87EF-CAF5-A2AC07AF969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13951738"/>
              </p:ext>
            </p:extLst>
          </p:nvPr>
        </p:nvGraphicFramePr>
        <p:xfrm>
          <a:off x="7473756" y="1521302"/>
          <a:ext cx="1522413" cy="1595439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6341" name="Group 453">
            <a:extLst>
              <a:ext uri="{FF2B5EF4-FFF2-40B4-BE49-F238E27FC236}">
                <a16:creationId xmlns:a16="http://schemas.microsoft.com/office/drawing/2014/main" id="{1135727B-AD90-64E8-AB84-581A8AD7E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8425464"/>
              </p:ext>
            </p:extLst>
          </p:nvPr>
        </p:nvGraphicFramePr>
        <p:xfrm>
          <a:off x="4719444" y="3208814"/>
          <a:ext cx="1768475" cy="341376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92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Result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8227" name="AutoShape 259">
            <a:extLst>
              <a:ext uri="{FF2B5EF4-FFF2-40B4-BE49-F238E27FC236}">
                <a16:creationId xmlns:a16="http://schemas.microsoft.com/office/drawing/2014/main" id="{C836ECA9-D6C6-86B1-AAF8-8F245B148829}"/>
              </a:ext>
            </a:extLst>
          </p:cNvPr>
          <p:cNvSpPr>
            <a:spLocks/>
          </p:cNvSpPr>
          <p:nvPr/>
        </p:nvSpPr>
        <p:spPr bwMode="auto">
          <a:xfrm>
            <a:off x="3844730" y="2197577"/>
            <a:ext cx="401638" cy="922337"/>
          </a:xfrm>
          <a:prstGeom prst="rightBrace">
            <a:avLst>
              <a:gd name="adj1" fmla="val 1913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48228" name="Text Box 260">
            <a:extLst>
              <a:ext uri="{FF2B5EF4-FFF2-40B4-BE49-F238E27FC236}">
                <a16:creationId xmlns:a16="http://schemas.microsoft.com/office/drawing/2014/main" id="{D569BF26-28A7-86E7-C88F-EB84C8636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8743" y="2388076"/>
            <a:ext cx="1086836" cy="548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/>
              <a:t>3 rows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6DCCE261-3A9E-298D-444A-ED9CC0B87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Cartesian Product</a:t>
            </a:r>
          </a:p>
        </p:txBody>
      </p:sp>
      <p:graphicFrame>
        <p:nvGraphicFramePr>
          <p:cNvPr id="167359" name="Group 447">
            <a:extLst>
              <a:ext uri="{FF2B5EF4-FFF2-40B4-BE49-F238E27FC236}">
                <a16:creationId xmlns:a16="http://schemas.microsoft.com/office/drawing/2014/main" id="{D18AE1EC-925B-BD3D-5497-95EDE15F497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2723479"/>
              </p:ext>
            </p:extLst>
          </p:nvPr>
        </p:nvGraphicFramePr>
        <p:xfrm>
          <a:off x="2124222" y="1519714"/>
          <a:ext cx="1524000" cy="1598780"/>
        </p:xfrm>
        <a:graphic>
          <a:graphicData uri="http://schemas.openxmlformats.org/drawingml/2006/table">
            <a:tbl>
              <a:tblPr/>
              <a:tblGrid>
                <a:gridCol w="73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12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6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7361" name="Group 449">
            <a:extLst>
              <a:ext uri="{FF2B5EF4-FFF2-40B4-BE49-F238E27FC236}">
                <a16:creationId xmlns:a16="http://schemas.microsoft.com/office/drawing/2014/main" id="{829A4BCD-CDBB-87D2-DB67-E9C34AFB6FB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67996773"/>
              </p:ext>
            </p:extLst>
          </p:nvPr>
        </p:nvGraphicFramePr>
        <p:xfrm>
          <a:off x="7248673" y="1521301"/>
          <a:ext cx="1522413" cy="1593851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7360" name="Group 448">
            <a:extLst>
              <a:ext uri="{FF2B5EF4-FFF2-40B4-BE49-F238E27FC236}">
                <a16:creationId xmlns:a16="http://schemas.microsoft.com/office/drawing/2014/main" id="{99011ED8-818F-C158-8824-1359A7AAA6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821177"/>
              </p:ext>
            </p:extLst>
          </p:nvPr>
        </p:nvGraphicFramePr>
        <p:xfrm>
          <a:off x="4494361" y="3208814"/>
          <a:ext cx="1768475" cy="341376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92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Result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9251" name="AutoShape 253">
            <a:extLst>
              <a:ext uri="{FF2B5EF4-FFF2-40B4-BE49-F238E27FC236}">
                <a16:creationId xmlns:a16="http://schemas.microsoft.com/office/drawing/2014/main" id="{7E7ED9C5-2DD2-117F-2552-8A4DD64218E4}"/>
              </a:ext>
            </a:extLst>
          </p:cNvPr>
          <p:cNvSpPr>
            <a:spLocks/>
          </p:cNvSpPr>
          <p:nvPr/>
        </p:nvSpPr>
        <p:spPr bwMode="auto">
          <a:xfrm>
            <a:off x="3619647" y="2197577"/>
            <a:ext cx="401638" cy="922337"/>
          </a:xfrm>
          <a:prstGeom prst="rightBrace">
            <a:avLst>
              <a:gd name="adj1" fmla="val 1913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49252" name="Text Box 254">
            <a:extLst>
              <a:ext uri="{FF2B5EF4-FFF2-40B4-BE49-F238E27FC236}">
                <a16:creationId xmlns:a16="http://schemas.microsoft.com/office/drawing/2014/main" id="{35543724-4B93-9085-998E-3AAC1A841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3660" y="2388076"/>
            <a:ext cx="1086836" cy="548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/>
              <a:t>3 rows</a:t>
            </a:r>
          </a:p>
        </p:txBody>
      </p:sp>
      <p:grpSp>
        <p:nvGrpSpPr>
          <p:cNvPr id="49253" name="Group 255">
            <a:extLst>
              <a:ext uri="{FF2B5EF4-FFF2-40B4-BE49-F238E27FC236}">
                <a16:creationId xmlns:a16="http://schemas.microsoft.com/office/drawing/2014/main" id="{A5394C86-8B9B-E294-9827-2CBBB03DAA17}"/>
              </a:ext>
            </a:extLst>
          </p:cNvPr>
          <p:cNvGrpSpPr>
            <a:grpSpLocks/>
          </p:cNvGrpSpPr>
          <p:nvPr/>
        </p:nvGrpSpPr>
        <p:grpSpPr bwMode="auto">
          <a:xfrm>
            <a:off x="5794523" y="2197577"/>
            <a:ext cx="1433513" cy="922337"/>
            <a:chOff x="3080" y="1237"/>
            <a:chExt cx="903" cy="581"/>
          </a:xfrm>
        </p:grpSpPr>
        <p:sp>
          <p:nvSpPr>
            <p:cNvPr id="49254" name="AutoShape 256">
              <a:extLst>
                <a:ext uri="{FF2B5EF4-FFF2-40B4-BE49-F238E27FC236}">
                  <a16:creationId xmlns:a16="http://schemas.microsoft.com/office/drawing/2014/main" id="{BCEC7C80-8196-48DF-A4D9-1E5F055D52E0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730" y="1237"/>
              <a:ext cx="253" cy="581"/>
            </a:xfrm>
            <a:prstGeom prst="rightBrace">
              <a:avLst>
                <a:gd name="adj1" fmla="val 19137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Monotype Sorts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/>
            </a:p>
          </p:txBody>
        </p:sp>
        <p:sp>
          <p:nvSpPr>
            <p:cNvPr id="49255" name="Text Box 257">
              <a:extLst>
                <a:ext uri="{FF2B5EF4-FFF2-40B4-BE49-F238E27FC236}">
                  <a16:creationId xmlns:a16="http://schemas.microsoft.com/office/drawing/2014/main" id="{9803C95F-B3D3-8A51-8893-19E42F360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0" y="1351"/>
              <a:ext cx="685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med" len="lg"/>
                  <a:tailEnd type="none" w="med" len="lg"/>
                </a14:hiddenLine>
              </a:ext>
            </a:extLst>
          </p:spPr>
          <p:txBody>
            <a:bodyPr wrap="none" lIns="88900" tIns="88900" rIns="88900" bIns="8890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Monotype Sorts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/>
                <a:t>3 rows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648200AD-4582-8A44-F98B-0D086F5952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Cartesian Product</a:t>
            </a:r>
          </a:p>
        </p:txBody>
      </p:sp>
      <p:graphicFrame>
        <p:nvGraphicFramePr>
          <p:cNvPr id="168383" name="Group 447">
            <a:extLst>
              <a:ext uri="{FF2B5EF4-FFF2-40B4-BE49-F238E27FC236}">
                <a16:creationId xmlns:a16="http://schemas.microsoft.com/office/drawing/2014/main" id="{E8818305-D85C-36C1-0BC0-62BAA9CADB2C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87784483"/>
              </p:ext>
            </p:extLst>
          </p:nvPr>
        </p:nvGraphicFramePr>
        <p:xfrm>
          <a:off x="2194560" y="1559170"/>
          <a:ext cx="1524000" cy="1598780"/>
        </p:xfrm>
        <a:graphic>
          <a:graphicData uri="http://schemas.openxmlformats.org/drawingml/2006/table">
            <a:tbl>
              <a:tblPr/>
              <a:tblGrid>
                <a:gridCol w="73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12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6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8385" name="Group 449">
            <a:extLst>
              <a:ext uri="{FF2B5EF4-FFF2-40B4-BE49-F238E27FC236}">
                <a16:creationId xmlns:a16="http://schemas.microsoft.com/office/drawing/2014/main" id="{C43DF3E9-6D78-F9A2-07D8-DFA6E38F8FB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94684938"/>
              </p:ext>
            </p:extLst>
          </p:nvPr>
        </p:nvGraphicFramePr>
        <p:xfrm>
          <a:off x="7319011" y="1560758"/>
          <a:ext cx="1522413" cy="1595439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8384" name="Group 448">
            <a:extLst>
              <a:ext uri="{FF2B5EF4-FFF2-40B4-BE49-F238E27FC236}">
                <a16:creationId xmlns:a16="http://schemas.microsoft.com/office/drawing/2014/main" id="{87A010EB-297C-2DFA-F934-74F28BF20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393097"/>
              </p:ext>
            </p:extLst>
          </p:nvPr>
        </p:nvGraphicFramePr>
        <p:xfrm>
          <a:off x="4564699" y="3248270"/>
          <a:ext cx="1768475" cy="3413760"/>
        </p:xfrm>
        <a:graphic>
          <a:graphicData uri="http://schemas.openxmlformats.org/drawingml/2006/table">
            <a:tbl>
              <a:tblPr/>
              <a:tblGrid>
                <a:gridCol w="488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692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Result Set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474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50274" name="Group 250">
            <a:extLst>
              <a:ext uri="{FF2B5EF4-FFF2-40B4-BE49-F238E27FC236}">
                <a16:creationId xmlns:a16="http://schemas.microsoft.com/office/drawing/2014/main" id="{4262AB50-4F62-3B55-D64F-E496AAC7E6C8}"/>
              </a:ext>
            </a:extLst>
          </p:cNvPr>
          <p:cNvGrpSpPr>
            <a:grpSpLocks/>
          </p:cNvGrpSpPr>
          <p:nvPr/>
        </p:nvGrpSpPr>
        <p:grpSpPr bwMode="auto">
          <a:xfrm>
            <a:off x="6337937" y="3922958"/>
            <a:ext cx="1412876" cy="2732087"/>
            <a:chOff x="3372" y="2299"/>
            <a:chExt cx="890" cy="1721"/>
          </a:xfrm>
        </p:grpSpPr>
        <p:sp>
          <p:nvSpPr>
            <p:cNvPr id="50281" name="AutoShape 251">
              <a:extLst>
                <a:ext uri="{FF2B5EF4-FFF2-40B4-BE49-F238E27FC236}">
                  <a16:creationId xmlns:a16="http://schemas.microsoft.com/office/drawing/2014/main" id="{5170EB23-3D05-C422-A2E9-F446D4662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2299"/>
              <a:ext cx="193" cy="1721"/>
            </a:xfrm>
            <a:prstGeom prst="rightBrace">
              <a:avLst>
                <a:gd name="adj1" fmla="val 74309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Monotype Sorts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/>
            </a:p>
          </p:txBody>
        </p:sp>
        <p:sp>
          <p:nvSpPr>
            <p:cNvPr id="50282" name="Text Box 252">
              <a:extLst>
                <a:ext uri="{FF2B5EF4-FFF2-40B4-BE49-F238E27FC236}">
                  <a16:creationId xmlns:a16="http://schemas.microsoft.com/office/drawing/2014/main" id="{2919EDF5-BF76-0A54-E8EC-E3E067AE7A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7" y="2989"/>
              <a:ext cx="685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med" len="lg"/>
                  <a:tailEnd type="none" w="med" len="lg"/>
                </a14:hiddenLine>
              </a:ext>
            </a:extLst>
          </p:spPr>
          <p:txBody>
            <a:bodyPr wrap="none" lIns="88900" tIns="88900" rIns="88900" bIns="8890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Monotype Sorts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/>
                <a:t>9 rows</a:t>
              </a:r>
            </a:p>
          </p:txBody>
        </p:sp>
      </p:grpSp>
      <p:sp>
        <p:nvSpPr>
          <p:cNvPr id="50275" name="AutoShape 253">
            <a:extLst>
              <a:ext uri="{FF2B5EF4-FFF2-40B4-BE49-F238E27FC236}">
                <a16:creationId xmlns:a16="http://schemas.microsoft.com/office/drawing/2014/main" id="{86EA16F8-2E86-1BD1-1B3D-4DF2D646EB7C}"/>
              </a:ext>
            </a:extLst>
          </p:cNvPr>
          <p:cNvSpPr>
            <a:spLocks/>
          </p:cNvSpPr>
          <p:nvPr/>
        </p:nvSpPr>
        <p:spPr bwMode="auto">
          <a:xfrm>
            <a:off x="3689985" y="2237033"/>
            <a:ext cx="401638" cy="922337"/>
          </a:xfrm>
          <a:prstGeom prst="rightBrace">
            <a:avLst>
              <a:gd name="adj1" fmla="val 1913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50276" name="Text Box 254">
            <a:extLst>
              <a:ext uri="{FF2B5EF4-FFF2-40B4-BE49-F238E27FC236}">
                <a16:creationId xmlns:a16="http://schemas.microsoft.com/office/drawing/2014/main" id="{C835A760-DEB2-A78A-91E1-875791546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3998" y="2427532"/>
            <a:ext cx="1086836" cy="548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/>
              <a:t>3 rows</a:t>
            </a:r>
          </a:p>
        </p:txBody>
      </p:sp>
      <p:grpSp>
        <p:nvGrpSpPr>
          <p:cNvPr id="50277" name="Group 255">
            <a:extLst>
              <a:ext uri="{FF2B5EF4-FFF2-40B4-BE49-F238E27FC236}">
                <a16:creationId xmlns:a16="http://schemas.microsoft.com/office/drawing/2014/main" id="{A0365910-91D5-FEDF-9EA1-25A3151A4315}"/>
              </a:ext>
            </a:extLst>
          </p:cNvPr>
          <p:cNvGrpSpPr>
            <a:grpSpLocks/>
          </p:cNvGrpSpPr>
          <p:nvPr/>
        </p:nvGrpSpPr>
        <p:grpSpPr bwMode="auto">
          <a:xfrm>
            <a:off x="5864861" y="2237033"/>
            <a:ext cx="1433513" cy="922337"/>
            <a:chOff x="3080" y="1237"/>
            <a:chExt cx="903" cy="581"/>
          </a:xfrm>
        </p:grpSpPr>
        <p:sp>
          <p:nvSpPr>
            <p:cNvPr id="50279" name="AutoShape 256">
              <a:extLst>
                <a:ext uri="{FF2B5EF4-FFF2-40B4-BE49-F238E27FC236}">
                  <a16:creationId xmlns:a16="http://schemas.microsoft.com/office/drawing/2014/main" id="{B7CB6E6D-6F2D-6F87-00BD-B401180CE92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3730" y="1237"/>
              <a:ext cx="253" cy="581"/>
            </a:xfrm>
            <a:prstGeom prst="rightBrace">
              <a:avLst>
                <a:gd name="adj1" fmla="val 19137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Monotype Sorts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/>
            </a:p>
          </p:txBody>
        </p:sp>
        <p:sp>
          <p:nvSpPr>
            <p:cNvPr id="50280" name="Text Box 257">
              <a:extLst>
                <a:ext uri="{FF2B5EF4-FFF2-40B4-BE49-F238E27FC236}">
                  <a16:creationId xmlns:a16="http://schemas.microsoft.com/office/drawing/2014/main" id="{6D8D55C5-C1E3-ACB2-43A6-B26EC33438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0" y="1351"/>
              <a:ext cx="685" cy="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 type="none" w="med" len="lg"/>
                  <a:tailEnd type="none" w="med" len="lg"/>
                </a14:hiddenLine>
              </a:ext>
            </a:extLst>
          </p:spPr>
          <p:txBody>
            <a:bodyPr wrap="none" lIns="88900" tIns="88900" rIns="88900" bIns="8890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Monotype Sorts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en-US"/>
                <a:t>3 rows</a:t>
              </a:r>
            </a:p>
          </p:txBody>
        </p:sp>
      </p:grpSp>
      <p:sp>
        <p:nvSpPr>
          <p:cNvPr id="50278" name="Text Box 317">
            <a:extLst>
              <a:ext uri="{FF2B5EF4-FFF2-40B4-BE49-F238E27FC236}">
                <a16:creationId xmlns:a16="http://schemas.microsoft.com/office/drawing/2014/main" id="{81989D23-9DE3-8DFE-3E17-32120A873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2560" y="2397369"/>
            <a:ext cx="457200" cy="548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lIns="88900" tIns="88900" rIns="88900" bIns="8890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FontTx/>
              <a:buNone/>
            </a:pPr>
            <a:r>
              <a:rPr lang="en-US" altLang="en-US"/>
              <a:t>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>
            <a:extLst>
              <a:ext uri="{FF2B5EF4-FFF2-40B4-BE49-F238E27FC236}">
                <a16:creationId xmlns:a16="http://schemas.microsoft.com/office/drawing/2014/main" id="{50DAE3AC-45D7-CE30-AF75-BFFB7E2B19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2629" y="292101"/>
            <a:ext cx="9985253" cy="555625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Cartesian product</a:t>
            </a:r>
          </a:p>
        </p:txBody>
      </p:sp>
      <p:sp>
        <p:nvSpPr>
          <p:cNvPr id="51203" name="Text Placeholder 2">
            <a:extLst>
              <a:ext uri="{FF2B5EF4-FFF2-40B4-BE49-F238E27FC236}">
                <a16:creationId xmlns:a16="http://schemas.microsoft.com/office/drawing/2014/main" id="{7F9C0295-B870-3211-09C4-C9529E2A95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2629" y="1158874"/>
            <a:ext cx="10256288" cy="5407025"/>
          </a:xfrm>
        </p:spPr>
        <p:txBody>
          <a:bodyPr/>
          <a:lstStyle/>
          <a:p>
            <a:pPr marL="114300" indent="0"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/>
          </a:p>
        </p:txBody>
      </p:sp>
      <p:pic>
        <p:nvPicPr>
          <p:cNvPr id="51205" name="Picture 2">
            <a:extLst>
              <a:ext uri="{FF2B5EF4-FFF2-40B4-BE49-F238E27FC236}">
                <a16:creationId xmlns:a16="http://schemas.microsoft.com/office/drawing/2014/main" id="{40AFD1C9-A173-B35F-9974-16B6E5096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598" y="2451894"/>
            <a:ext cx="1732958" cy="320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6" name="TextBox 5">
            <a:extLst>
              <a:ext uri="{FF2B5EF4-FFF2-40B4-BE49-F238E27FC236}">
                <a16:creationId xmlns:a16="http://schemas.microsoft.com/office/drawing/2014/main" id="{E0D6F5A1-BA4F-1894-7D57-A6E89B860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1343" y="2131592"/>
            <a:ext cx="15782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latin typeface="+mn-lt"/>
              </a:rPr>
              <a:t>INSTRUCTOR</a:t>
            </a:r>
          </a:p>
        </p:txBody>
      </p:sp>
      <p:pic>
        <p:nvPicPr>
          <p:cNvPr id="51207" name="Picture 3">
            <a:extLst>
              <a:ext uri="{FF2B5EF4-FFF2-40B4-BE49-F238E27FC236}">
                <a16:creationId xmlns:a16="http://schemas.microsoft.com/office/drawing/2014/main" id="{8FC0C4B2-93F9-0FFC-7253-E8288969F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426" y="2965492"/>
            <a:ext cx="1732958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8" name="TextBox 7">
            <a:extLst>
              <a:ext uri="{FF2B5EF4-FFF2-40B4-BE49-F238E27FC236}">
                <a16:creationId xmlns:a16="http://schemas.microsoft.com/office/drawing/2014/main" id="{45B5F8B2-E614-7444-DF58-BF6C7573D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5122" y="2448529"/>
            <a:ext cx="10842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latin typeface="+mn-lt"/>
              </a:rPr>
              <a:t>TEACHES</a:t>
            </a:r>
          </a:p>
        </p:txBody>
      </p:sp>
      <p:sp>
        <p:nvSpPr>
          <p:cNvPr id="51209" name="TextBox 9">
            <a:extLst>
              <a:ext uri="{FF2B5EF4-FFF2-40B4-BE49-F238E27FC236}">
                <a16:creationId xmlns:a16="http://schemas.microsoft.com/office/drawing/2014/main" id="{9FF68A00-0F30-4497-6276-0F7824A19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3851" y="1301750"/>
            <a:ext cx="45579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latin typeface="+mn-lt"/>
              </a:rPr>
              <a:t>select * from instructor, teaches;</a:t>
            </a:r>
          </a:p>
        </p:txBody>
      </p:sp>
      <p:pic>
        <p:nvPicPr>
          <p:cNvPr id="51210" name="Picture 2">
            <a:extLst>
              <a:ext uri="{FF2B5EF4-FFF2-40B4-BE49-F238E27FC236}">
                <a16:creationId xmlns:a16="http://schemas.microsoft.com/office/drawing/2014/main" id="{22F28B87-DB2E-8C9C-F801-F89D7B113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7071" y="2058797"/>
            <a:ext cx="3948331" cy="438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DECF3708-B65C-231E-8C43-89DD0E3244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35150" y="292101"/>
            <a:ext cx="8521700" cy="555625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dirty="0"/>
              <a:t>		CARTESIAN PRODUCT</a:t>
            </a:r>
          </a:p>
        </p:txBody>
      </p:sp>
      <p:sp>
        <p:nvSpPr>
          <p:cNvPr id="52227" name="Text Placeholder 2">
            <a:extLst>
              <a:ext uri="{FF2B5EF4-FFF2-40B4-BE49-F238E27FC236}">
                <a16:creationId xmlns:a16="http://schemas.microsoft.com/office/drawing/2014/main" id="{06B74915-E6D5-1CA1-C263-27268AEA79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9994" y="1146176"/>
            <a:ext cx="11141612" cy="5419723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lang="en-US" altLang="en-US" dirty="0"/>
          </a:p>
        </p:txBody>
      </p:sp>
      <p:pic>
        <p:nvPicPr>
          <p:cNvPr id="52229" name="Picture 2">
            <a:extLst>
              <a:ext uri="{FF2B5EF4-FFF2-40B4-BE49-F238E27FC236}">
                <a16:creationId xmlns:a16="http://schemas.microsoft.com/office/drawing/2014/main" id="{BE51E38F-5998-7E97-D213-3775BBB3F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634" y="2745497"/>
            <a:ext cx="1715403" cy="320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TextBox 5">
            <a:extLst>
              <a:ext uri="{FF2B5EF4-FFF2-40B4-BE49-F238E27FC236}">
                <a16:creationId xmlns:a16="http://schemas.microsoft.com/office/drawing/2014/main" id="{79C9A7F9-0BF4-D5A8-0D0D-790484490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8633" y="2183974"/>
            <a:ext cx="171540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latin typeface="+mn-lt"/>
              </a:rPr>
              <a:t>INSTRUCTOR</a:t>
            </a:r>
          </a:p>
        </p:txBody>
      </p:sp>
      <p:pic>
        <p:nvPicPr>
          <p:cNvPr id="52231" name="Picture 3">
            <a:extLst>
              <a:ext uri="{FF2B5EF4-FFF2-40B4-BE49-F238E27FC236}">
                <a16:creationId xmlns:a16="http://schemas.microsoft.com/office/drawing/2014/main" id="{5444FE47-2154-4303-3121-791BC6E78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4511" y="3208338"/>
            <a:ext cx="171540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2" name="TextBox 7">
            <a:extLst>
              <a:ext uri="{FF2B5EF4-FFF2-40B4-BE49-F238E27FC236}">
                <a16:creationId xmlns:a16="http://schemas.microsoft.com/office/drawing/2014/main" id="{F171C342-17C4-8AC9-2EFE-7CABE4AE2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6536" y="2633663"/>
            <a:ext cx="10842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latin typeface="+mn-lt"/>
              </a:rPr>
              <a:t>TEACHES</a:t>
            </a:r>
          </a:p>
        </p:txBody>
      </p:sp>
      <p:sp>
        <p:nvSpPr>
          <p:cNvPr id="52233" name="TextBox 9">
            <a:extLst>
              <a:ext uri="{FF2B5EF4-FFF2-40B4-BE49-F238E27FC236}">
                <a16:creationId xmlns:a16="http://schemas.microsoft.com/office/drawing/2014/main" id="{90A0FA18-B6FB-5E09-B9EA-0CCE19DD8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0128" y="1583809"/>
            <a:ext cx="6386733" cy="1200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latin typeface="+mn-lt"/>
              </a:rPr>
              <a:t>select </a:t>
            </a:r>
            <a:r>
              <a:rPr lang="en-US" altLang="en-US" i="1" dirty="0">
                <a:latin typeface="+mn-lt"/>
              </a:rPr>
              <a:t>instructor.id, instructor.name, </a:t>
            </a:r>
            <a:r>
              <a:rPr lang="en-US" altLang="en-US" i="1" dirty="0" err="1">
                <a:latin typeface="+mn-lt"/>
              </a:rPr>
              <a:t>teaches.course</a:t>
            </a:r>
            <a:r>
              <a:rPr lang="en-US" altLang="en-US" i="1" dirty="0">
                <a:latin typeface="+mn-lt"/>
              </a:rPr>
              <a:t> </a:t>
            </a:r>
            <a:r>
              <a:rPr lang="en-US" altLang="en-US" dirty="0">
                <a:latin typeface="+mn-lt"/>
              </a:rPr>
              <a:t>from </a:t>
            </a:r>
            <a:r>
              <a:rPr lang="en-US" altLang="en-US" dirty="0" err="1">
                <a:latin typeface="+mn-lt"/>
              </a:rPr>
              <a:t>instructors,teaches</a:t>
            </a:r>
            <a:r>
              <a:rPr lang="en-US" altLang="en-US" dirty="0">
                <a:latin typeface="+mn-lt"/>
              </a:rPr>
              <a:t> WHERE instructor.id=teaches.id;</a:t>
            </a:r>
          </a:p>
        </p:txBody>
      </p:sp>
      <p:pic>
        <p:nvPicPr>
          <p:cNvPr id="52234" name="Picture 2">
            <a:extLst>
              <a:ext uri="{FF2B5EF4-FFF2-40B4-BE49-F238E27FC236}">
                <a16:creationId xmlns:a16="http://schemas.microsoft.com/office/drawing/2014/main" id="{6E4046F1-3616-63E8-EFB4-E463D994E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3076" y="3429000"/>
            <a:ext cx="2089150" cy="213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B2E8D-1218-0C40-4D75-9C2F7BB72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602" y="593367"/>
            <a:ext cx="10819798" cy="763600"/>
          </a:xfrm>
        </p:spPr>
        <p:txBody>
          <a:bodyPr/>
          <a:lstStyle/>
          <a:p>
            <a:r>
              <a:rPr lang="en-IN" dirty="0"/>
              <a:t>Natural Join Vs Inner Join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E82669-E5A5-C5E0-4ACB-F2CEDB1DF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6602" y="1536633"/>
            <a:ext cx="10819797" cy="4555200"/>
          </a:xfrm>
        </p:spPr>
        <p:txBody>
          <a:bodyPr/>
          <a:lstStyle/>
          <a:p>
            <a:r>
              <a:rPr lang="en-US" dirty="0"/>
              <a:t>A Natural Join is where 2 tables are joined on the basis of all common columns.</a:t>
            </a:r>
          </a:p>
          <a:p>
            <a:endParaRPr lang="en-US" dirty="0"/>
          </a:p>
          <a:p>
            <a:r>
              <a:rPr lang="en-US" dirty="0"/>
              <a:t>A Inner Join is where 2 tables are joined on the basis of common columns mentioned in the </a:t>
            </a:r>
            <a:r>
              <a:rPr lang="en-US" dirty="0">
                <a:solidFill>
                  <a:srgbClr val="FF0000"/>
                </a:solidFill>
              </a:rPr>
              <a:t>ON clause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3544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9AEAD-EE87-3D06-055E-B000FA4A3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482" y="593367"/>
            <a:ext cx="11009918" cy="763600"/>
          </a:xfrm>
        </p:spPr>
        <p:txBody>
          <a:bodyPr/>
          <a:lstStyle/>
          <a:p>
            <a:r>
              <a:rPr lang="en-IN" dirty="0"/>
              <a:t>Natural join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FA93F-A609-5D89-3795-AF05B4D2D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471" y="1698125"/>
            <a:ext cx="1411941" cy="5609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3850B8-92C9-CE2B-4C03-958E6BB42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562" y="2484518"/>
            <a:ext cx="1316850" cy="35397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97F98E-3DE9-04F3-DE7D-BADCEE15D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5724" y="1756136"/>
            <a:ext cx="1267300" cy="5609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31D90A-000C-DFB9-3649-9F55979838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8926" y="2730267"/>
            <a:ext cx="1316850" cy="1524132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C001ABB2-B91D-F615-FFB9-5B861D0E1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3272" y="2036626"/>
            <a:ext cx="5829579" cy="46166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latin typeface="+mn-lt"/>
              </a:rPr>
              <a:t>select </a:t>
            </a:r>
            <a:r>
              <a:rPr lang="en-US" altLang="en-US" i="1" dirty="0">
                <a:latin typeface="+mn-lt"/>
              </a:rPr>
              <a:t>* </a:t>
            </a:r>
            <a:r>
              <a:rPr lang="en-US" altLang="en-US" dirty="0">
                <a:latin typeface="+mn-lt"/>
              </a:rPr>
              <a:t>from instructors </a:t>
            </a:r>
            <a:r>
              <a:rPr lang="en-US" altLang="en-US" b="1" dirty="0">
                <a:solidFill>
                  <a:srgbClr val="FF0000"/>
                </a:solidFill>
                <a:latin typeface="+mn-lt"/>
              </a:rPr>
              <a:t>natural join </a:t>
            </a:r>
            <a:r>
              <a:rPr lang="en-US" altLang="en-US" dirty="0">
                <a:latin typeface="+mn-lt"/>
              </a:rPr>
              <a:t>teaches;</a:t>
            </a:r>
            <a:endParaRPr lang="en-US" altLang="en-US" sz="2000" dirty="0"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4F3A9F-4B8C-726A-DB31-1638D9CE8C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4021" y="3061928"/>
            <a:ext cx="2091109" cy="21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8982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5DEC0-DEE1-E2D4-44A2-545E9C7C6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118" y="593367"/>
            <a:ext cx="11171282" cy="763600"/>
          </a:xfrm>
        </p:spPr>
        <p:txBody>
          <a:bodyPr/>
          <a:lstStyle/>
          <a:p>
            <a:r>
              <a:rPr lang="en-IN" dirty="0"/>
              <a:t>Inner Joins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F96F5-39EE-56EC-EEC8-F974BF269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9588" y="1536633"/>
            <a:ext cx="11036812" cy="4555200"/>
          </a:xfrm>
        </p:spPr>
        <p:txBody>
          <a:bodyPr/>
          <a:lstStyle/>
          <a:p>
            <a:r>
              <a:rPr lang="en-US" dirty="0"/>
              <a:t>Inner join syntax resembles Cartesian product syntax, but a WHERE clause restricts which rows are returned. </a:t>
            </a:r>
          </a:p>
          <a:p>
            <a:r>
              <a:rPr lang="en-US" dirty="0"/>
              <a:t>General form of an inner join:</a:t>
            </a:r>
          </a:p>
          <a:p>
            <a:endParaRPr lang="en-IN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A4E04535-9BBC-106D-23CF-DC600F6AF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9077" y="3612777"/>
            <a:ext cx="6519863" cy="2154238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66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tIns="152400" bIns="152400">
            <a:sp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b="1" dirty="0">
                <a:latin typeface="Arial"/>
                <a:cs typeface="+mn-cs"/>
              </a:rPr>
              <a:t>SELECT</a:t>
            </a:r>
            <a:r>
              <a:rPr lang="en-US" dirty="0">
                <a:latin typeface="Arial"/>
                <a:cs typeface="+mn-cs"/>
              </a:rPr>
              <a:t> </a:t>
            </a:r>
            <a:r>
              <a:rPr lang="en-US" i="1" dirty="0">
                <a:latin typeface="Arial"/>
                <a:cs typeface="+mn-cs"/>
              </a:rPr>
              <a:t>column-1&lt;</a:t>
            </a:r>
            <a:r>
              <a:rPr lang="en-US" dirty="0">
                <a:latin typeface="Arial"/>
                <a:cs typeface="+mn-cs"/>
              </a:rPr>
              <a:t>, …</a:t>
            </a:r>
            <a:r>
              <a:rPr lang="en-US" i="1" dirty="0">
                <a:latin typeface="Arial"/>
                <a:cs typeface="+mn-cs"/>
              </a:rPr>
              <a:t>column-n</a:t>
            </a:r>
            <a:r>
              <a:rPr lang="en-US" dirty="0">
                <a:latin typeface="Arial"/>
                <a:cs typeface="+mn-cs"/>
              </a:rPr>
              <a:t>&gt;</a:t>
            </a:r>
            <a:br>
              <a:rPr lang="en-US" dirty="0">
                <a:latin typeface="Arial"/>
                <a:cs typeface="+mn-cs"/>
              </a:rPr>
            </a:br>
            <a:r>
              <a:rPr lang="en-US" dirty="0">
                <a:latin typeface="Arial"/>
                <a:cs typeface="+mn-cs"/>
              </a:rPr>
              <a:t>       </a:t>
            </a:r>
            <a:r>
              <a:rPr lang="en-US" b="1" dirty="0">
                <a:latin typeface="Arial"/>
                <a:cs typeface="+mn-cs"/>
              </a:rPr>
              <a:t>FROM</a:t>
            </a:r>
            <a:r>
              <a:rPr lang="en-US" dirty="0">
                <a:latin typeface="Arial"/>
                <a:cs typeface="+mn-cs"/>
              </a:rPr>
              <a:t> </a:t>
            </a:r>
            <a:r>
              <a:rPr lang="en-US" i="1" dirty="0">
                <a:latin typeface="Arial"/>
                <a:cs typeface="+mn-cs"/>
              </a:rPr>
              <a:t>table-1|view-1&lt;</a:t>
            </a:r>
            <a:r>
              <a:rPr lang="en-US" dirty="0">
                <a:latin typeface="Arial"/>
                <a:cs typeface="+mn-cs"/>
              </a:rPr>
              <a:t>, … </a:t>
            </a:r>
            <a:r>
              <a:rPr lang="en-US" i="1" dirty="0">
                <a:latin typeface="Arial"/>
                <a:cs typeface="+mn-cs"/>
              </a:rPr>
              <a:t>table-</a:t>
            </a:r>
            <a:r>
              <a:rPr lang="en-US" i="1" dirty="0" err="1">
                <a:latin typeface="Arial"/>
                <a:cs typeface="+mn-cs"/>
              </a:rPr>
              <a:t>n|view</a:t>
            </a:r>
            <a:r>
              <a:rPr lang="en-US" i="1" dirty="0">
                <a:latin typeface="Arial"/>
                <a:cs typeface="+mn-cs"/>
              </a:rPr>
              <a:t>-n</a:t>
            </a:r>
            <a:r>
              <a:rPr lang="en-US" dirty="0">
                <a:latin typeface="Arial"/>
                <a:cs typeface="+mn-cs"/>
              </a:rPr>
              <a:t>&gt;</a:t>
            </a:r>
            <a:br>
              <a:rPr lang="en-US" dirty="0">
                <a:latin typeface="Arial"/>
                <a:cs typeface="+mn-cs"/>
              </a:rPr>
            </a:br>
            <a:r>
              <a:rPr lang="en-US" dirty="0">
                <a:latin typeface="Arial"/>
                <a:cs typeface="+mn-cs"/>
              </a:rPr>
              <a:t>       </a:t>
            </a:r>
            <a:r>
              <a:rPr lang="en-US" b="1" dirty="0">
                <a:latin typeface="Arial"/>
                <a:cs typeface="+mn-cs"/>
              </a:rPr>
              <a:t>WHERE</a:t>
            </a:r>
            <a:r>
              <a:rPr lang="en-US" dirty="0">
                <a:latin typeface="Arial"/>
                <a:cs typeface="+mn-cs"/>
              </a:rPr>
              <a:t> </a:t>
            </a:r>
            <a:r>
              <a:rPr lang="en-US" i="1" dirty="0">
                <a:latin typeface="Arial"/>
                <a:cs typeface="+mn-cs"/>
              </a:rPr>
              <a:t>join-condition(s)</a:t>
            </a:r>
            <a:r>
              <a:rPr lang="en-US" dirty="0">
                <a:latin typeface="Arial"/>
                <a:cs typeface="+mn-cs"/>
              </a:rPr>
              <a:t> </a:t>
            </a:r>
            <a:br>
              <a:rPr lang="en-US" dirty="0">
                <a:latin typeface="Arial"/>
                <a:cs typeface="+mn-cs"/>
              </a:rPr>
            </a:br>
            <a:r>
              <a:rPr lang="en-US" dirty="0">
                <a:latin typeface="Arial"/>
                <a:cs typeface="+mn-cs"/>
              </a:rPr>
              <a:t>                &lt;</a:t>
            </a:r>
            <a:r>
              <a:rPr lang="en-US" b="1" dirty="0">
                <a:latin typeface="Arial"/>
                <a:cs typeface="+mn-cs"/>
              </a:rPr>
              <a:t>AND</a:t>
            </a:r>
            <a:r>
              <a:rPr lang="en-US" dirty="0">
                <a:latin typeface="Arial"/>
                <a:cs typeface="+mn-cs"/>
              </a:rPr>
              <a:t> </a:t>
            </a:r>
            <a:r>
              <a:rPr lang="en-US" i="1" dirty="0">
                <a:latin typeface="Arial"/>
                <a:cs typeface="+mn-cs"/>
              </a:rPr>
              <a:t>other subsetting conditions</a:t>
            </a:r>
            <a:r>
              <a:rPr lang="en-US" dirty="0">
                <a:latin typeface="Arial"/>
                <a:cs typeface="+mn-cs"/>
              </a:rPr>
              <a:t>&gt;</a:t>
            </a:r>
            <a:br>
              <a:rPr lang="en-US" dirty="0">
                <a:latin typeface="Arial"/>
                <a:cs typeface="+mn-cs"/>
              </a:rPr>
            </a:br>
            <a:r>
              <a:rPr lang="en-US" dirty="0">
                <a:latin typeface="Arial"/>
                <a:cs typeface="+mn-cs"/>
              </a:rPr>
              <a:t>               &lt;</a:t>
            </a:r>
            <a:r>
              <a:rPr lang="en-US" i="1" dirty="0">
                <a:latin typeface="Arial"/>
                <a:cs typeface="+mn-cs"/>
              </a:rPr>
              <a:t>other clauses</a:t>
            </a:r>
            <a:r>
              <a:rPr lang="en-US" dirty="0">
                <a:latin typeface="Arial"/>
                <a:cs typeface="+mn-cs"/>
              </a:rPr>
              <a:t>&gt;</a:t>
            </a:r>
            <a:r>
              <a:rPr lang="en-US" b="1" dirty="0">
                <a:latin typeface="Arial"/>
                <a:cs typeface="+mn-cs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283396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6E93A-BDB7-90DD-2D45-8167629F1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952" y="268941"/>
            <a:ext cx="10875447" cy="779930"/>
          </a:xfrm>
        </p:spPr>
        <p:txBody>
          <a:bodyPr/>
          <a:lstStyle/>
          <a:p>
            <a:r>
              <a:rPr lang="en-IN" dirty="0"/>
              <a:t>Inner Join Alternate Syntax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615D22-6566-1585-EE5E-C7B3DFAF3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0952" y="1048870"/>
            <a:ext cx="10529048" cy="5540189"/>
          </a:xfrm>
        </p:spPr>
        <p:txBody>
          <a:bodyPr/>
          <a:lstStyle/>
          <a:p>
            <a:r>
              <a:rPr lang="en-US" dirty="0"/>
              <a:t>An inner join can also be accomplished using an alternate syntax, which limits the join to a maximum of two tables.</a:t>
            </a:r>
          </a:p>
          <a:p>
            <a:r>
              <a:rPr lang="en-US" dirty="0"/>
              <a:t>General form of an inner join:</a:t>
            </a:r>
          </a:p>
          <a:p>
            <a:endParaRPr lang="en-IN" dirty="0"/>
          </a:p>
        </p:txBody>
      </p:sp>
      <p:sp>
        <p:nvSpPr>
          <p:cNvPr id="4" name="Text Box 9">
            <a:extLst>
              <a:ext uri="{FF2B5EF4-FFF2-40B4-BE49-F238E27FC236}">
                <a16:creationId xmlns:a16="http://schemas.microsoft.com/office/drawing/2014/main" id="{1062D53C-4493-27E3-029E-3DF47B304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065" y="2585467"/>
            <a:ext cx="6577853" cy="196977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66"/>
            </a:solidFill>
            <a:miter lim="800000"/>
            <a:headEnd type="none" w="med" len="lg"/>
            <a:tailEnd type="none" w="med" len="lg"/>
          </a:ln>
          <a:effectLst>
            <a:outerShdw dist="107763" dir="2700000" algn="ctr" rotWithShape="0">
              <a:srgbClr val="C0C0C0">
                <a:alpha val="50000"/>
              </a:srgbClr>
            </a:outerShdw>
          </a:effectLst>
        </p:spPr>
        <p:txBody>
          <a:bodyPr wrap="square" lIns="88900" tIns="152400" rIns="88900" bIns="152400">
            <a:spAutoFit/>
          </a:bodyPr>
          <a:lstStyle/>
          <a:p>
            <a:pPr>
              <a:tabLst>
                <a:tab pos="635000" algn="l"/>
                <a:tab pos="1320800" algn="l"/>
              </a:tabLst>
              <a:defRPr/>
            </a:pPr>
            <a:r>
              <a:rPr lang="en-US" b="1" dirty="0">
                <a:solidFill>
                  <a:srgbClr val="000000"/>
                </a:solidFill>
                <a:latin typeface="Arial"/>
                <a:cs typeface="+mn-cs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Arial"/>
                <a:cs typeface="+mn-cs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Arial"/>
                <a:cs typeface="+mn-cs"/>
              </a:rPr>
              <a:t>column-1</a:t>
            </a:r>
            <a:r>
              <a:rPr lang="en-US" dirty="0">
                <a:solidFill>
                  <a:srgbClr val="000000"/>
                </a:solidFill>
                <a:latin typeface="Arial"/>
                <a:cs typeface="+mn-cs"/>
              </a:rPr>
              <a:t> &lt;, …</a:t>
            </a:r>
            <a:r>
              <a:rPr lang="en-US" i="1" dirty="0">
                <a:solidFill>
                  <a:srgbClr val="000000"/>
                </a:solidFill>
                <a:latin typeface="Arial"/>
                <a:cs typeface="+mn-cs"/>
              </a:rPr>
              <a:t>column-n</a:t>
            </a:r>
            <a:r>
              <a:rPr lang="en-US" dirty="0">
                <a:solidFill>
                  <a:srgbClr val="000000"/>
                </a:solidFill>
                <a:latin typeface="Arial"/>
                <a:cs typeface="+mn-cs"/>
              </a:rPr>
              <a:t>&gt;</a:t>
            </a:r>
          </a:p>
          <a:p>
            <a:pPr>
              <a:tabLst>
                <a:tab pos="635000" algn="l"/>
                <a:tab pos="1320800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Arial"/>
                <a:cs typeface="+mn-cs"/>
              </a:rPr>
              <a:t>	</a:t>
            </a:r>
            <a:r>
              <a:rPr lang="en-US" b="1" dirty="0">
                <a:solidFill>
                  <a:srgbClr val="000000"/>
                </a:solidFill>
                <a:latin typeface="Arial"/>
                <a:cs typeface="+mn-cs"/>
              </a:rPr>
              <a:t>FROM</a:t>
            </a:r>
            <a:r>
              <a:rPr lang="en-US" dirty="0">
                <a:solidFill>
                  <a:srgbClr val="000000"/>
                </a:solidFill>
                <a:latin typeface="Arial"/>
                <a:cs typeface="+mn-cs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Arial"/>
                <a:cs typeface="+mn-cs"/>
              </a:rPr>
              <a:t>table-1</a:t>
            </a:r>
            <a:r>
              <a:rPr lang="en-US" dirty="0">
                <a:solidFill>
                  <a:srgbClr val="000000"/>
                </a:solidFill>
                <a:latin typeface="Arial"/>
                <a:cs typeface="+mn-cs"/>
              </a:rPr>
              <a:t> </a:t>
            </a:r>
            <a:br>
              <a:rPr lang="en-US" dirty="0">
                <a:solidFill>
                  <a:srgbClr val="000000"/>
                </a:solidFill>
                <a:latin typeface="Arial"/>
                <a:cs typeface="+mn-cs"/>
              </a:rPr>
            </a:br>
            <a:r>
              <a:rPr lang="en-US" dirty="0">
                <a:solidFill>
                  <a:srgbClr val="000000"/>
                </a:solidFill>
                <a:latin typeface="Arial"/>
                <a:cs typeface="+mn-cs"/>
              </a:rPr>
              <a:t>        </a:t>
            </a:r>
            <a:r>
              <a:rPr lang="en-US" b="1" dirty="0">
                <a:solidFill>
                  <a:srgbClr val="000000"/>
                </a:solidFill>
                <a:latin typeface="Arial"/>
                <a:cs typeface="+mn-cs"/>
              </a:rPr>
              <a:t>INNER JOIN</a:t>
            </a:r>
            <a:r>
              <a:rPr lang="en-US" dirty="0">
                <a:solidFill>
                  <a:srgbClr val="000000"/>
                </a:solidFill>
                <a:latin typeface="Arial"/>
                <a:cs typeface="+mn-cs"/>
              </a:rPr>
              <a:t> </a:t>
            </a:r>
          </a:p>
          <a:p>
            <a:pPr>
              <a:tabLst>
                <a:tab pos="635000" algn="l"/>
                <a:tab pos="1320800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Arial"/>
                <a:cs typeface="+mn-cs"/>
              </a:rPr>
              <a:t>		 </a:t>
            </a:r>
            <a:r>
              <a:rPr lang="en-US" i="1" dirty="0">
                <a:solidFill>
                  <a:srgbClr val="000000"/>
                </a:solidFill>
                <a:latin typeface="Arial"/>
                <a:cs typeface="+mn-cs"/>
              </a:rPr>
              <a:t>table-2</a:t>
            </a:r>
          </a:p>
          <a:p>
            <a:pPr>
              <a:tabLst>
                <a:tab pos="635000" algn="l"/>
                <a:tab pos="1320800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Arial"/>
                <a:cs typeface="+mn-cs"/>
              </a:rPr>
              <a:t>	</a:t>
            </a:r>
            <a:r>
              <a:rPr lang="en-US" b="1" dirty="0">
                <a:solidFill>
                  <a:srgbClr val="000000"/>
                </a:solidFill>
                <a:latin typeface="Arial"/>
                <a:cs typeface="+mn-cs"/>
              </a:rPr>
              <a:t>ON</a:t>
            </a:r>
            <a:r>
              <a:rPr lang="en-US" dirty="0">
                <a:solidFill>
                  <a:srgbClr val="000000"/>
                </a:solidFill>
                <a:latin typeface="Arial"/>
                <a:cs typeface="+mn-cs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Arial"/>
                <a:cs typeface="+mn-cs"/>
              </a:rPr>
              <a:t>join-condition(s)</a:t>
            </a:r>
            <a:r>
              <a:rPr lang="en-US" dirty="0">
                <a:solidFill>
                  <a:srgbClr val="000000"/>
                </a:solidFill>
                <a:latin typeface="Arial"/>
                <a:cs typeface="+mn-cs"/>
              </a:rPr>
              <a:t> </a:t>
            </a:r>
          </a:p>
          <a:p>
            <a:pPr>
              <a:tabLst>
                <a:tab pos="635000" algn="l"/>
                <a:tab pos="1320800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Arial"/>
                <a:cs typeface="+mn-cs"/>
              </a:rPr>
              <a:t>	&lt;</a:t>
            </a:r>
            <a:r>
              <a:rPr lang="en-US" i="1" dirty="0">
                <a:solidFill>
                  <a:srgbClr val="000000"/>
                </a:solidFill>
                <a:latin typeface="Arial"/>
                <a:cs typeface="+mn-cs"/>
              </a:rPr>
              <a:t>other clauses</a:t>
            </a:r>
            <a:r>
              <a:rPr lang="en-US" dirty="0">
                <a:solidFill>
                  <a:srgbClr val="000000"/>
                </a:solidFill>
                <a:latin typeface="Arial"/>
                <a:cs typeface="+mn-cs"/>
              </a:rPr>
              <a:t>&gt;</a:t>
            </a:r>
            <a:r>
              <a:rPr lang="en-US" b="1" dirty="0">
                <a:solidFill>
                  <a:srgbClr val="000000"/>
                </a:solidFill>
                <a:latin typeface="Arial"/>
                <a:cs typeface="+mn-cs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AE3E7B-5AD5-6BFF-AE2D-849A5201A534}"/>
              </a:ext>
            </a:extLst>
          </p:cNvPr>
          <p:cNvSpPr txBox="1"/>
          <p:nvPr/>
        </p:nvSpPr>
        <p:spPr>
          <a:xfrm>
            <a:off x="1126192" y="4874972"/>
            <a:ext cx="93087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syntax is common in SQL code produced by code generators such as SAS Enterprise Guide.</a:t>
            </a:r>
            <a:br>
              <a:rPr lang="en-US" sz="2000" dirty="0"/>
            </a:br>
            <a:r>
              <a:rPr lang="en-US" sz="2000" dirty="0"/>
              <a:t> The ON clause specifies the JOIN criteria;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WHERE clause can be added to subset the results.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94670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FEDE6-466F-61F5-6A18-1DCAF4117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Inner Joins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F9B73-B102-E6A9-9D44-26B3ABE9BF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Conceptually, when processing an inner join, SQL does the following:</a:t>
            </a:r>
          </a:p>
          <a:p>
            <a:endParaRPr lang="en-US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Builds the Cartesian product of all the tables listed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dirty="0"/>
              <a:t>Applies the WHERE clause to limit the rows returned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69884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56D2893C-C673-9F6C-3B7C-7AC978BEDE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Inner Joins: Cartesian Product Built</a:t>
            </a:r>
          </a:p>
        </p:txBody>
      </p:sp>
      <p:graphicFrame>
        <p:nvGraphicFramePr>
          <p:cNvPr id="27240" name="Group 616">
            <a:extLst>
              <a:ext uri="{FF2B5EF4-FFF2-40B4-BE49-F238E27FC236}">
                <a16:creationId xmlns:a16="http://schemas.microsoft.com/office/drawing/2014/main" id="{93BFB138-8B44-8978-780D-2F94A0F3BE97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272008658"/>
              </p:ext>
            </p:extLst>
          </p:nvPr>
        </p:nvGraphicFramePr>
        <p:xfrm>
          <a:off x="4533899" y="2879724"/>
          <a:ext cx="2844800" cy="3632203"/>
        </p:xfrm>
        <a:graphic>
          <a:graphicData uri="http://schemas.openxmlformats.org/drawingml/2006/table">
            <a:tbl>
              <a:tblPr/>
              <a:tblGrid>
                <a:gridCol w="776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763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7238" name="Group 614">
            <a:extLst>
              <a:ext uri="{FF2B5EF4-FFF2-40B4-BE49-F238E27FC236}">
                <a16:creationId xmlns:a16="http://schemas.microsoft.com/office/drawing/2014/main" id="{5FBA0AA7-E0CD-8801-FF67-1A37A56D8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188938"/>
              </p:ext>
            </p:extLst>
          </p:nvPr>
        </p:nvGraphicFramePr>
        <p:xfrm>
          <a:off x="2628899" y="987423"/>
          <a:ext cx="1524000" cy="1598780"/>
        </p:xfrm>
        <a:graphic>
          <a:graphicData uri="http://schemas.openxmlformats.org/drawingml/2006/table">
            <a:tbl>
              <a:tblPr/>
              <a:tblGrid>
                <a:gridCol w="73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12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6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7239" name="Group 615">
            <a:extLst>
              <a:ext uri="{FF2B5EF4-FFF2-40B4-BE49-F238E27FC236}">
                <a16:creationId xmlns:a16="http://schemas.microsoft.com/office/drawing/2014/main" id="{5DEB4D32-8087-DB67-D406-F1E966ED5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1661326"/>
              </p:ext>
            </p:extLst>
          </p:nvPr>
        </p:nvGraphicFramePr>
        <p:xfrm>
          <a:off x="7780337" y="989012"/>
          <a:ext cx="1522413" cy="1595439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8468" name="Text Box 492">
            <a:extLst>
              <a:ext uri="{FF2B5EF4-FFF2-40B4-BE49-F238E27FC236}">
                <a16:creationId xmlns:a16="http://schemas.microsoft.com/office/drawing/2014/main" id="{6416196F-62B1-B610-977B-24807FB7F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9274" y="2349498"/>
            <a:ext cx="3198812" cy="609600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lIns="50800" tIns="50800" rIns="50800" bIns="50800"/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select * 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from one, two</a:t>
            </a:r>
          </a:p>
        </p:txBody>
      </p:sp>
      <p:sp>
        <p:nvSpPr>
          <p:cNvPr id="58469" name="Rectangle 493">
            <a:extLst>
              <a:ext uri="{FF2B5EF4-FFF2-40B4-BE49-F238E27FC236}">
                <a16:creationId xmlns:a16="http://schemas.microsoft.com/office/drawing/2014/main" id="{F7E941F4-5B89-145F-A48F-046A382E38AD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962525" y="2717801"/>
            <a:ext cx="2006600" cy="284163"/>
          </a:xfrm>
          <a:prstGeom prst="rect">
            <a:avLst/>
          </a:pr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 anchor="ctr"/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31002623-D034-00CF-731C-FA5F8B95F0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Inner Joins: WHERE Clause Restricts Rows</a:t>
            </a:r>
          </a:p>
        </p:txBody>
      </p:sp>
      <p:graphicFrame>
        <p:nvGraphicFramePr>
          <p:cNvPr id="278900" name="Group 372">
            <a:extLst>
              <a:ext uri="{FF2B5EF4-FFF2-40B4-BE49-F238E27FC236}">
                <a16:creationId xmlns:a16="http://schemas.microsoft.com/office/drawing/2014/main" id="{7C14BFC9-A5AF-D9F3-56CB-8BA5493201A2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364525164"/>
              </p:ext>
            </p:extLst>
          </p:nvPr>
        </p:nvGraphicFramePr>
        <p:xfrm>
          <a:off x="4311931" y="3035299"/>
          <a:ext cx="2844800" cy="3632203"/>
        </p:xfrm>
        <a:graphic>
          <a:graphicData uri="http://schemas.openxmlformats.org/drawingml/2006/table">
            <a:tbl>
              <a:tblPr/>
              <a:tblGrid>
                <a:gridCol w="776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763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1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a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3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y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5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latin typeface="Arial" charset="0"/>
                        </a:rPr>
                        <a:t>v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bg2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78898" name="Group 370">
            <a:extLst>
              <a:ext uri="{FF2B5EF4-FFF2-40B4-BE49-F238E27FC236}">
                <a16:creationId xmlns:a16="http://schemas.microsoft.com/office/drawing/2014/main" id="{81247F20-43F6-478B-2900-2D1751DB6A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043732"/>
              </p:ext>
            </p:extLst>
          </p:nvPr>
        </p:nvGraphicFramePr>
        <p:xfrm>
          <a:off x="2406931" y="1143000"/>
          <a:ext cx="1524000" cy="1598780"/>
        </p:xfrm>
        <a:graphic>
          <a:graphicData uri="http://schemas.openxmlformats.org/drawingml/2006/table">
            <a:tbl>
              <a:tblPr/>
              <a:tblGrid>
                <a:gridCol w="73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12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6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78899" name="Group 371">
            <a:extLst>
              <a:ext uri="{FF2B5EF4-FFF2-40B4-BE49-F238E27FC236}">
                <a16:creationId xmlns:a16="http://schemas.microsoft.com/office/drawing/2014/main" id="{2AC4C7F7-7D8E-2B2B-D4EC-304E3950AD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490797"/>
              </p:ext>
            </p:extLst>
          </p:nvPr>
        </p:nvGraphicFramePr>
        <p:xfrm>
          <a:off x="7558369" y="1144588"/>
          <a:ext cx="1522413" cy="1595439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516" name="Text Box 247">
            <a:extLst>
              <a:ext uri="{FF2B5EF4-FFF2-40B4-BE49-F238E27FC236}">
                <a16:creationId xmlns:a16="http://schemas.microsoft.com/office/drawing/2014/main" id="{C3ABE9EC-355E-87ED-1282-FA8FA1BBBA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0156" y="2276474"/>
            <a:ext cx="3340100" cy="915988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lIns="50800" tIns="50800" rIns="50800" bIns="5080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select * 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from one, two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000" b="1">
                <a:solidFill>
                  <a:srgbClr val="0000FF"/>
                </a:solidFill>
                <a:latin typeface="Courier New" panose="02070309020205020404" pitchFamily="49" charset="0"/>
              </a:rPr>
              <a:t>   </a:t>
            </a:r>
            <a:r>
              <a:rPr lang="en-US" altLang="en-US" sz="2000" b="1">
                <a:latin typeface="Courier New" panose="02070309020205020404" pitchFamily="49" charset="0"/>
              </a:rPr>
              <a:t>where one.x=two.x;</a:t>
            </a:r>
          </a:p>
        </p:txBody>
      </p:sp>
      <p:sp>
        <p:nvSpPr>
          <p:cNvPr id="60517" name="AutoShape 248">
            <a:extLst>
              <a:ext uri="{FF2B5EF4-FFF2-40B4-BE49-F238E27FC236}">
                <a16:creationId xmlns:a16="http://schemas.microsoft.com/office/drawing/2014/main" id="{AD447069-D8FA-F06F-3162-4A044AABA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6432" y="5722937"/>
            <a:ext cx="365125" cy="228600"/>
          </a:xfrm>
          <a:prstGeom prst="leftArrow">
            <a:avLst>
              <a:gd name="adj1" fmla="val 50000"/>
              <a:gd name="adj2" fmla="val 39931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IN" altLang="en-US" noProof="1">
              <a:solidFill>
                <a:srgbClr val="FF0000"/>
              </a:solidFill>
            </a:endParaRPr>
          </a:p>
        </p:txBody>
      </p:sp>
      <p:sp>
        <p:nvSpPr>
          <p:cNvPr id="60518" name="Rectangle 249">
            <a:extLst>
              <a:ext uri="{FF2B5EF4-FFF2-40B4-BE49-F238E27FC236}">
                <a16:creationId xmlns:a16="http://schemas.microsoft.com/office/drawing/2014/main" id="{5691CD7C-983C-EB80-6F6F-4C11DB980C6F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905375" y="2776538"/>
            <a:ext cx="2616200" cy="284162"/>
          </a:xfrm>
          <a:prstGeom prst="rect">
            <a:avLst/>
          </a:pr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 anchor="ctr"/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DC21B6FA-18C6-1127-46B3-BCCB7BD7A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Inner Joins: Results Are Returned</a:t>
            </a:r>
          </a:p>
        </p:txBody>
      </p:sp>
      <p:graphicFrame>
        <p:nvGraphicFramePr>
          <p:cNvPr id="280975" name="Group 399">
            <a:extLst>
              <a:ext uri="{FF2B5EF4-FFF2-40B4-BE49-F238E27FC236}">
                <a16:creationId xmlns:a16="http://schemas.microsoft.com/office/drawing/2014/main" id="{951872B5-1D69-D8A3-74C9-C1FD7F4D91D7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132891386"/>
              </p:ext>
            </p:extLst>
          </p:nvPr>
        </p:nvGraphicFramePr>
        <p:xfrm>
          <a:off x="4271589" y="3722519"/>
          <a:ext cx="2844800" cy="1035051"/>
        </p:xfrm>
        <a:graphic>
          <a:graphicData uri="http://schemas.openxmlformats.org/drawingml/2006/table">
            <a:tbl>
              <a:tblPr/>
              <a:tblGrid>
                <a:gridCol w="776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1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763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0973" name="Group 397">
            <a:extLst>
              <a:ext uri="{FF2B5EF4-FFF2-40B4-BE49-F238E27FC236}">
                <a16:creationId xmlns:a16="http://schemas.microsoft.com/office/drawing/2014/main" id="{0C7E5925-A569-1E9F-4BD1-50290B81F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07063"/>
              </p:ext>
            </p:extLst>
          </p:nvPr>
        </p:nvGraphicFramePr>
        <p:xfrm>
          <a:off x="2366589" y="1830220"/>
          <a:ext cx="1524000" cy="1598780"/>
        </p:xfrm>
        <a:graphic>
          <a:graphicData uri="http://schemas.openxmlformats.org/drawingml/2006/table">
            <a:tbl>
              <a:tblPr/>
              <a:tblGrid>
                <a:gridCol w="73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12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6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80974" name="Group 398">
            <a:extLst>
              <a:ext uri="{FF2B5EF4-FFF2-40B4-BE49-F238E27FC236}">
                <a16:creationId xmlns:a16="http://schemas.microsoft.com/office/drawing/2014/main" id="{93A93D96-DF72-5D06-F202-DC6D74653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847028"/>
              </p:ext>
            </p:extLst>
          </p:nvPr>
        </p:nvGraphicFramePr>
        <p:xfrm>
          <a:off x="7518027" y="1831808"/>
          <a:ext cx="1522413" cy="1595439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2523" name="Text Box 247">
            <a:extLst>
              <a:ext uri="{FF2B5EF4-FFF2-40B4-BE49-F238E27FC236}">
                <a16:creationId xmlns:a16="http://schemas.microsoft.com/office/drawing/2014/main" id="{27F56023-D14C-C363-1F36-777DC4753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9814" y="2963694"/>
            <a:ext cx="3340100" cy="915988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lIns="50800" tIns="50800" rIns="50800" bIns="5080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select * 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000" b="1">
                <a:latin typeface="Courier New" panose="02070309020205020404" pitchFamily="49" charset="0"/>
              </a:rPr>
              <a:t>   from one, two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000" b="1">
                <a:solidFill>
                  <a:srgbClr val="0000FF"/>
                </a:solidFill>
                <a:latin typeface="Courier New" panose="02070309020205020404" pitchFamily="49" charset="0"/>
              </a:rPr>
              <a:t>   </a:t>
            </a:r>
            <a:r>
              <a:rPr lang="en-US" altLang="en-US" sz="2000" b="1">
                <a:latin typeface="Courier New" panose="02070309020205020404" pitchFamily="49" charset="0"/>
              </a:rPr>
              <a:t>where one.x=two.x;</a:t>
            </a:r>
          </a:p>
        </p:txBody>
      </p:sp>
      <p:sp>
        <p:nvSpPr>
          <p:cNvPr id="62524" name="Rectangle 275">
            <a:extLst>
              <a:ext uri="{FF2B5EF4-FFF2-40B4-BE49-F238E27FC236}">
                <a16:creationId xmlns:a16="http://schemas.microsoft.com/office/drawing/2014/main" id="{553ADE36-E999-BF91-0F6C-2015FECCD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460" y="5365376"/>
            <a:ext cx="9412942" cy="578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lIns="0" tIns="0" rIns="0" bIns="0"/>
          <a:lstStyle>
            <a:lvl1pPr marL="566738" indent="-566738"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sym typeface="Wingdings" panose="05000000000000000000" pitchFamily="2" charset="2"/>
              </a:rPr>
              <a:t>	</a:t>
            </a:r>
            <a:r>
              <a:rPr lang="en-US" altLang="en-US" dirty="0">
                <a:solidFill>
                  <a:srgbClr val="000000"/>
                </a:solidFill>
                <a:latin typeface="+mn-lt"/>
              </a:rPr>
              <a:t>Tables do not have to be sorted before they are joined.</a:t>
            </a:r>
            <a:r>
              <a:rPr lang="en-US" altLang="en-US" b="1" dirty="0">
                <a:solidFill>
                  <a:srgbClr val="00000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6">
            <a:extLst>
              <a:ext uri="{FF2B5EF4-FFF2-40B4-BE49-F238E27FC236}">
                <a16:creationId xmlns:a16="http://schemas.microsoft.com/office/drawing/2014/main" id="{F166AD74-9EBD-B58A-4997-12E2AAF882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Inner Joins</a:t>
            </a:r>
          </a:p>
        </p:txBody>
      </p:sp>
      <p:sp>
        <p:nvSpPr>
          <p:cNvPr id="64515" name="Rectangle 243">
            <a:extLst>
              <a:ext uri="{FF2B5EF4-FFF2-40B4-BE49-F238E27FC236}">
                <a16:creationId xmlns:a16="http://schemas.microsoft.com/office/drawing/2014/main" id="{99E77C42-F9CE-5D1A-8BE0-94D674F3660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87424" y="1232695"/>
            <a:ext cx="10187081" cy="8239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dirty="0"/>
              <a:t>One method of displaying the X column only once is to use a table qualifier in the SELECT list. </a:t>
            </a:r>
          </a:p>
        </p:txBody>
      </p:sp>
      <p:graphicFrame>
        <p:nvGraphicFramePr>
          <p:cNvPr id="31181" name="Group 461">
            <a:extLst>
              <a:ext uri="{FF2B5EF4-FFF2-40B4-BE49-F238E27FC236}">
                <a16:creationId xmlns:a16="http://schemas.microsoft.com/office/drawing/2014/main" id="{606D4C5E-A4CF-24F9-2AEC-753B88E2EC5B}"/>
              </a:ext>
            </a:extLst>
          </p:cNvPr>
          <p:cNvGraphicFramePr>
            <a:graphicFrameLocks noGrp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44136172"/>
              </p:ext>
            </p:extLst>
          </p:nvPr>
        </p:nvGraphicFramePr>
        <p:xfrm>
          <a:off x="4305299" y="5340349"/>
          <a:ext cx="2312988" cy="1016001"/>
        </p:xfrm>
        <a:graphic>
          <a:graphicData uri="http://schemas.openxmlformats.org/drawingml/2006/table">
            <a:tbl>
              <a:tblPr/>
              <a:tblGrid>
                <a:gridCol w="7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413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179" name="Group 459">
            <a:extLst>
              <a:ext uri="{FF2B5EF4-FFF2-40B4-BE49-F238E27FC236}">
                <a16:creationId xmlns:a16="http://schemas.microsoft.com/office/drawing/2014/main" id="{F7662F8E-6C7E-52DF-F6AF-2C379C0D3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473786"/>
              </p:ext>
            </p:extLst>
          </p:nvPr>
        </p:nvGraphicFramePr>
        <p:xfrm>
          <a:off x="3141663" y="2128837"/>
          <a:ext cx="1716087" cy="1584960"/>
        </p:xfrm>
        <a:graphic>
          <a:graphicData uri="http://schemas.openxmlformats.org/drawingml/2006/table">
            <a:tbl>
              <a:tblPr/>
              <a:tblGrid>
                <a:gridCol w="887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13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6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6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6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67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1180" name="Group 460">
            <a:extLst>
              <a:ext uri="{FF2B5EF4-FFF2-40B4-BE49-F238E27FC236}">
                <a16:creationId xmlns:a16="http://schemas.microsoft.com/office/drawing/2014/main" id="{400187D2-D189-B816-61E9-3F00C4D3D3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381125"/>
              </p:ext>
            </p:extLst>
          </p:nvPr>
        </p:nvGraphicFramePr>
        <p:xfrm>
          <a:off x="5975349" y="2130425"/>
          <a:ext cx="1701800" cy="1595439"/>
        </p:xfrm>
        <a:graphic>
          <a:graphicData uri="http://schemas.openxmlformats.org/drawingml/2006/table">
            <a:tbl>
              <a:tblPr/>
              <a:tblGrid>
                <a:gridCol w="86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4568" name="Text Box 245">
            <a:extLst>
              <a:ext uri="{FF2B5EF4-FFF2-40B4-BE49-F238E27FC236}">
                <a16:creationId xmlns:a16="http://schemas.microsoft.com/office/drawing/2014/main" id="{FD25FC1C-89C4-2C47-BD65-6085769BE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4213" y="4303711"/>
            <a:ext cx="4491037" cy="1073150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lIns="50800" tIns="50800" rIns="50800" bIns="5080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select one.x, a, b 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   from one, two 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   where one.x=two.x;</a:t>
            </a:r>
          </a:p>
        </p:txBody>
      </p:sp>
      <p:sp>
        <p:nvSpPr>
          <p:cNvPr id="64570" name="Rectangle 329">
            <a:extLst>
              <a:ext uri="{FF2B5EF4-FFF2-40B4-BE49-F238E27FC236}">
                <a16:creationId xmlns:a16="http://schemas.microsoft.com/office/drawing/2014/main" id="{0A6D1CA0-5C54-BC8B-171E-F1F0E2FC41D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546599" y="4348161"/>
            <a:ext cx="755650" cy="336550"/>
          </a:xfrm>
          <a:prstGeom prst="rect">
            <a:avLst/>
          </a:pr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 anchor="ctr"/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>
            <a:extLst>
              <a:ext uri="{FF2B5EF4-FFF2-40B4-BE49-F238E27FC236}">
                <a16:creationId xmlns:a16="http://schemas.microsoft.com/office/drawing/2014/main" id="{A7D6BEB9-C567-BB27-4EA3-4391B3205B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35150" y="292101"/>
            <a:ext cx="8521700" cy="555625"/>
          </a:xfrm>
        </p:spPr>
        <p:txBody>
          <a:bodyPr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/>
              <a:t>INNER JOIN</a:t>
            </a:r>
          </a:p>
        </p:txBody>
      </p:sp>
      <p:pic>
        <p:nvPicPr>
          <p:cNvPr id="66565" name="Picture 2">
            <a:extLst>
              <a:ext uri="{FF2B5EF4-FFF2-40B4-BE49-F238E27FC236}">
                <a16:creationId xmlns:a16="http://schemas.microsoft.com/office/drawing/2014/main" id="{B8E36BC6-50C3-C632-0934-1CCD24C7E4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164" y="1774826"/>
            <a:ext cx="1316037" cy="320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6" name="TextBox 5">
            <a:extLst>
              <a:ext uri="{FF2B5EF4-FFF2-40B4-BE49-F238E27FC236}">
                <a16:creationId xmlns:a16="http://schemas.microsoft.com/office/drawing/2014/main" id="{AE2E3B57-8241-A3E4-2B23-F2D2819CC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9913" y="1524001"/>
            <a:ext cx="1192212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/>
              <a:t>INSTRUCTOR</a:t>
            </a:r>
          </a:p>
        </p:txBody>
      </p:sp>
      <p:pic>
        <p:nvPicPr>
          <p:cNvPr id="66567" name="Picture 3">
            <a:extLst>
              <a:ext uri="{FF2B5EF4-FFF2-40B4-BE49-F238E27FC236}">
                <a16:creationId xmlns:a16="http://schemas.microsoft.com/office/drawing/2014/main" id="{5E716E6F-92CC-B247-B167-FD9407777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2651" y="2533650"/>
            <a:ext cx="113506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8" name="TextBox 7">
            <a:extLst>
              <a:ext uri="{FF2B5EF4-FFF2-40B4-BE49-F238E27FC236}">
                <a16:creationId xmlns:a16="http://schemas.microsoft.com/office/drawing/2014/main" id="{91C95495-1AA0-3CD6-404D-49160248C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1" y="2216151"/>
            <a:ext cx="10842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200"/>
              <a:t>TEACHES</a:t>
            </a:r>
          </a:p>
        </p:txBody>
      </p:sp>
      <p:sp>
        <p:nvSpPr>
          <p:cNvPr id="66569" name="TextBox 9">
            <a:extLst>
              <a:ext uri="{FF2B5EF4-FFF2-40B4-BE49-F238E27FC236}">
                <a16:creationId xmlns:a16="http://schemas.microsoft.com/office/drawing/2014/main" id="{7A8CDEE4-1E60-10E5-7E1D-5D4591992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7596" y="1502530"/>
            <a:ext cx="5511004" cy="1200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latin typeface="+mn-lt"/>
              </a:rPr>
              <a:t>select </a:t>
            </a:r>
            <a:r>
              <a:rPr lang="en-US" altLang="en-US" i="1" dirty="0">
                <a:latin typeface="+mn-lt"/>
              </a:rPr>
              <a:t>instructor.id, instructor.name, </a:t>
            </a:r>
            <a:r>
              <a:rPr lang="en-US" altLang="en-US" i="1" dirty="0" err="1">
                <a:latin typeface="+mn-lt"/>
              </a:rPr>
              <a:t>teaches.course</a:t>
            </a:r>
            <a:r>
              <a:rPr lang="en-US" altLang="en-US" i="1" dirty="0">
                <a:latin typeface="+mn-lt"/>
              </a:rPr>
              <a:t> </a:t>
            </a:r>
            <a:r>
              <a:rPr lang="en-US" altLang="en-US" dirty="0">
                <a:latin typeface="+mn-lt"/>
              </a:rPr>
              <a:t>from </a:t>
            </a:r>
            <a:r>
              <a:rPr lang="en-US" altLang="en-US" dirty="0" err="1">
                <a:latin typeface="+mn-lt"/>
              </a:rPr>
              <a:t>instructors,teaches</a:t>
            </a:r>
            <a:r>
              <a:rPr lang="en-US" altLang="en-US" dirty="0">
                <a:latin typeface="+mn-lt"/>
              </a:rPr>
              <a:t> WHERE instructor.id=teaches.id;</a:t>
            </a:r>
            <a:endParaRPr lang="en-US" altLang="en-US" sz="2000" dirty="0">
              <a:latin typeface="+mn-lt"/>
            </a:endParaRPr>
          </a:p>
        </p:txBody>
      </p:sp>
      <p:pic>
        <p:nvPicPr>
          <p:cNvPr id="66570" name="Picture 2">
            <a:extLst>
              <a:ext uri="{FF2B5EF4-FFF2-40B4-BE49-F238E27FC236}">
                <a16:creationId xmlns:a16="http://schemas.microsoft.com/office/drawing/2014/main" id="{B59750DF-026F-7AEF-AD71-F229799BE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2707" y="3072190"/>
            <a:ext cx="2089150" cy="213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>
            <a:extLst>
              <a:ext uri="{FF2B5EF4-FFF2-40B4-BE49-F238E27FC236}">
                <a16:creationId xmlns:a16="http://schemas.microsoft.com/office/drawing/2014/main" id="{B641AFDA-65D0-1040-0EEA-E1E2B093E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35150" y="292101"/>
            <a:ext cx="8521700" cy="555625"/>
          </a:xfrm>
        </p:spPr>
        <p:txBody>
          <a:bodyPr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/>
              <a:t>INNER JOIN</a:t>
            </a:r>
          </a:p>
        </p:txBody>
      </p:sp>
      <p:pic>
        <p:nvPicPr>
          <p:cNvPr id="67589" name="Picture 2">
            <a:extLst>
              <a:ext uri="{FF2B5EF4-FFF2-40B4-BE49-F238E27FC236}">
                <a16:creationId xmlns:a16="http://schemas.microsoft.com/office/drawing/2014/main" id="{2D7F394E-B9E2-92D9-D9B9-C2FBE176B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770" y="1949637"/>
            <a:ext cx="1316037" cy="320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0" name="TextBox 5">
            <a:extLst>
              <a:ext uri="{FF2B5EF4-FFF2-40B4-BE49-F238E27FC236}">
                <a16:creationId xmlns:a16="http://schemas.microsoft.com/office/drawing/2014/main" id="{73AF54C0-8FFF-93A3-1972-66F4F6B29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484" y="1611083"/>
            <a:ext cx="143412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latin typeface="+mn-lt"/>
              </a:rPr>
              <a:t>INSTRUCTOR</a:t>
            </a:r>
          </a:p>
        </p:txBody>
      </p:sp>
      <p:pic>
        <p:nvPicPr>
          <p:cNvPr id="67591" name="Picture 3">
            <a:extLst>
              <a:ext uri="{FF2B5EF4-FFF2-40B4-BE49-F238E27FC236}">
                <a16:creationId xmlns:a16="http://schemas.microsoft.com/office/drawing/2014/main" id="{1C60CECA-9222-6B8D-C6F7-8EFA37552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195" y="2667000"/>
            <a:ext cx="134382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2" name="TextBox 7">
            <a:extLst>
              <a:ext uri="{FF2B5EF4-FFF2-40B4-BE49-F238E27FC236}">
                <a16:creationId xmlns:a16="http://schemas.microsoft.com/office/drawing/2014/main" id="{FA12DAF8-09E5-A5FF-7A91-4996A5736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1" y="2216151"/>
            <a:ext cx="10842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latin typeface="+mn-lt"/>
              </a:rPr>
              <a:t>TEACHES</a:t>
            </a:r>
          </a:p>
        </p:txBody>
      </p:sp>
      <p:sp>
        <p:nvSpPr>
          <p:cNvPr id="67593" name="TextBox 9">
            <a:extLst>
              <a:ext uri="{FF2B5EF4-FFF2-40B4-BE49-F238E27FC236}">
                <a16:creationId xmlns:a16="http://schemas.microsoft.com/office/drawing/2014/main" id="{BDDECFA2-34CD-60A6-61C4-357B2BEEA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6913" y="847726"/>
            <a:ext cx="5748337" cy="830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latin typeface="+mn-lt"/>
              </a:rPr>
              <a:t>select * from instructor </a:t>
            </a:r>
            <a:r>
              <a:rPr lang="en-US" altLang="en-US" b="1" dirty="0">
                <a:latin typeface="+mn-lt"/>
              </a:rPr>
              <a:t>inner join </a:t>
            </a:r>
            <a:r>
              <a:rPr lang="en-US" altLang="en-US" dirty="0">
                <a:latin typeface="+mn-lt"/>
              </a:rPr>
              <a:t>teaches </a:t>
            </a:r>
            <a:r>
              <a:rPr lang="en-US" altLang="en-US" b="1" dirty="0">
                <a:latin typeface="+mn-lt"/>
              </a:rPr>
              <a:t>on</a:t>
            </a:r>
            <a:r>
              <a:rPr lang="en-US" altLang="en-US" dirty="0">
                <a:latin typeface="+mn-lt"/>
              </a:rPr>
              <a:t> instructor.id=teaches.id</a:t>
            </a:r>
          </a:p>
        </p:txBody>
      </p:sp>
      <p:pic>
        <p:nvPicPr>
          <p:cNvPr id="67594" name="Picture 2">
            <a:extLst>
              <a:ext uri="{FF2B5EF4-FFF2-40B4-BE49-F238E27FC236}">
                <a16:creationId xmlns:a16="http://schemas.microsoft.com/office/drawing/2014/main" id="{D3AEBCB5-5F95-5218-46B1-9EB059551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038" y="1752482"/>
            <a:ext cx="2860675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95" name="TextBox 11">
            <a:extLst>
              <a:ext uri="{FF2B5EF4-FFF2-40B4-BE49-F238E27FC236}">
                <a16:creationId xmlns:a16="http://schemas.microsoft.com/office/drawing/2014/main" id="{5110C8B5-8919-6BC9-5767-F4663F0FB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26" y="3121026"/>
            <a:ext cx="5748337" cy="163121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latin typeface="+mn-lt"/>
              </a:rPr>
              <a:t>Select </a:t>
            </a:r>
            <a:r>
              <a:rPr lang="en-US" altLang="en-US" sz="2000" i="1" dirty="0">
                <a:latin typeface="+mn-lt"/>
              </a:rPr>
              <a:t>instructor.id, instructor.name, </a:t>
            </a:r>
            <a:r>
              <a:rPr lang="en-US" altLang="en-US" sz="2000" i="1" dirty="0" err="1">
                <a:latin typeface="+mn-lt"/>
              </a:rPr>
              <a:t>teaches.course</a:t>
            </a:r>
            <a:r>
              <a:rPr lang="en-US" altLang="en-US" sz="2000" dirty="0">
                <a:latin typeface="+mn-lt"/>
              </a:rPr>
              <a:t> from instructor </a:t>
            </a:r>
            <a:r>
              <a:rPr lang="en-US" altLang="en-US" sz="2000" b="1" dirty="0">
                <a:latin typeface="+mn-lt"/>
              </a:rPr>
              <a:t>inner join </a:t>
            </a:r>
            <a:r>
              <a:rPr lang="en-US" altLang="en-US" sz="2000" dirty="0">
                <a:latin typeface="+mn-lt"/>
              </a:rPr>
              <a:t>teaches </a:t>
            </a:r>
            <a:r>
              <a:rPr lang="en-US" altLang="en-US" sz="2000" b="1" dirty="0">
                <a:latin typeface="+mn-lt"/>
              </a:rPr>
              <a:t>on</a:t>
            </a:r>
            <a:r>
              <a:rPr lang="en-US" altLang="en-US" sz="2000" dirty="0">
                <a:latin typeface="+mn-lt"/>
              </a:rPr>
              <a:t> instructor.id=teaches.id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b="1" dirty="0">
                <a:latin typeface="+mn-lt"/>
              </a:rPr>
              <a:t>(or)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latin typeface="+mn-lt"/>
              </a:rPr>
              <a:t>Select * from instructor </a:t>
            </a:r>
            <a:r>
              <a:rPr lang="en-US" altLang="en-US" sz="2000" b="1" dirty="0">
                <a:latin typeface="+mn-lt"/>
              </a:rPr>
              <a:t>natural inner join </a:t>
            </a:r>
            <a:r>
              <a:rPr lang="en-US" altLang="en-US" sz="2000" dirty="0">
                <a:latin typeface="+mn-lt"/>
              </a:rPr>
              <a:t>teaches;</a:t>
            </a:r>
          </a:p>
        </p:txBody>
      </p:sp>
      <p:pic>
        <p:nvPicPr>
          <p:cNvPr id="67596" name="Picture 3">
            <a:extLst>
              <a:ext uri="{FF2B5EF4-FFF2-40B4-BE49-F238E27FC236}">
                <a16:creationId xmlns:a16="http://schemas.microsoft.com/office/drawing/2014/main" id="{F5A79830-5B60-9797-7385-6669989A1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6913" y="4826001"/>
            <a:ext cx="3352800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46F4F-2BA2-4167-F7D4-2DE8EE696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Outer Joins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85EA2-D29E-D05A-3FA4-7956DD513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Inner joins returned only matching rows. </a:t>
            </a:r>
          </a:p>
          <a:p>
            <a:endParaRPr lang="en-US" dirty="0"/>
          </a:p>
          <a:p>
            <a:r>
              <a:rPr lang="en-US" dirty="0"/>
              <a:t>When you join tables, you might want to include nonmatching rows as well as matching rows.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39319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4DDE16C7-90EB-525C-0E0D-593D18C055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743744"/>
          </a:xfrm>
        </p:spPr>
        <p:txBody>
          <a:bodyPr/>
          <a:lstStyle/>
          <a:p>
            <a:pPr eaLnBrk="1" hangingPunct="1"/>
            <a:r>
              <a:rPr lang="en-US" altLang="en-US" dirty="0"/>
              <a:t>Outer Joins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4BAFD921-6EB2-A57F-1BBE-DD03086BC2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478758"/>
            <a:ext cx="10515600" cy="4698205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dirty="0"/>
              <a:t>You can retrieve both nonmatching and matching rows using an outer join.</a:t>
            </a:r>
          </a:p>
          <a:p>
            <a:pPr marL="0" indent="0" algn="just">
              <a:buNone/>
            </a:pPr>
            <a:endParaRPr lang="en-US" altLang="en-US" sz="1200" dirty="0"/>
          </a:p>
          <a:p>
            <a:pPr marL="0" indent="0" algn="just">
              <a:buNone/>
            </a:pPr>
            <a:r>
              <a:rPr lang="en-US" altLang="en-US" dirty="0"/>
              <a:t>Outer joins include left, full, and right outer joins. Outer joins can process only two tables at a time.</a:t>
            </a:r>
          </a:p>
        </p:txBody>
      </p:sp>
      <p:grpSp>
        <p:nvGrpSpPr>
          <p:cNvPr id="69637" name="Group 30">
            <a:extLst>
              <a:ext uri="{FF2B5EF4-FFF2-40B4-BE49-F238E27FC236}">
                <a16:creationId xmlns:a16="http://schemas.microsoft.com/office/drawing/2014/main" id="{FB2382D6-7DD0-B465-032F-6868402880F6}"/>
              </a:ext>
            </a:extLst>
          </p:cNvPr>
          <p:cNvGrpSpPr>
            <a:grpSpLocks/>
          </p:cNvGrpSpPr>
          <p:nvPr/>
        </p:nvGrpSpPr>
        <p:grpSpPr bwMode="auto">
          <a:xfrm>
            <a:off x="4803773" y="4148930"/>
            <a:ext cx="2511425" cy="2022476"/>
            <a:chOff x="2064" y="2036"/>
            <a:chExt cx="1582" cy="1274"/>
          </a:xfrm>
        </p:grpSpPr>
        <p:sp>
          <p:nvSpPr>
            <p:cNvPr id="69648" name="Oval 31">
              <a:extLst>
                <a:ext uri="{FF2B5EF4-FFF2-40B4-BE49-F238E27FC236}">
                  <a16:creationId xmlns:a16="http://schemas.microsoft.com/office/drawing/2014/main" id="{E6FC447A-ECB1-4CBD-332D-5809462DD91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64" y="2040"/>
              <a:ext cx="1008" cy="1008"/>
            </a:xfrm>
            <a:prstGeom prst="ellipse">
              <a:avLst/>
            </a:prstGeom>
            <a:solidFill>
              <a:schemeClr val="folHlink">
                <a:alpha val="7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Monotype Sorts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/>
            </a:p>
          </p:txBody>
        </p:sp>
        <p:sp>
          <p:nvSpPr>
            <p:cNvPr id="69649" name="Oval 32">
              <a:extLst>
                <a:ext uri="{FF2B5EF4-FFF2-40B4-BE49-F238E27FC236}">
                  <a16:creationId xmlns:a16="http://schemas.microsoft.com/office/drawing/2014/main" id="{0D538CE6-B135-D2A4-52F4-600590D1622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38" y="2040"/>
              <a:ext cx="1008" cy="1008"/>
            </a:xfrm>
            <a:prstGeom prst="ellipse">
              <a:avLst/>
            </a:prstGeom>
            <a:solidFill>
              <a:srgbClr val="99CCFF">
                <a:alpha val="50195"/>
              </a:srgbClr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Monotype Sorts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/>
            </a:p>
          </p:txBody>
        </p:sp>
        <p:sp>
          <p:nvSpPr>
            <p:cNvPr id="69650" name="Text Box 33">
              <a:extLst>
                <a:ext uri="{FF2B5EF4-FFF2-40B4-BE49-F238E27FC236}">
                  <a16:creationId xmlns:a16="http://schemas.microsoft.com/office/drawing/2014/main" id="{C867FBE2-8ACB-807D-49F2-B9C54453EA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9" y="3077"/>
              <a:ext cx="31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Monotype Sorts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/>
                <a:t>Full</a:t>
              </a:r>
            </a:p>
          </p:txBody>
        </p:sp>
        <p:sp>
          <p:nvSpPr>
            <p:cNvPr id="69651" name="Oval 34">
              <a:extLst>
                <a:ext uri="{FF2B5EF4-FFF2-40B4-BE49-F238E27FC236}">
                  <a16:creationId xmlns:a16="http://schemas.microsoft.com/office/drawing/2014/main" id="{C51A7904-2D36-0690-519E-8AB3A16797B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064" y="2036"/>
              <a:ext cx="1008" cy="10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Monotype Sorts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/>
            </a:p>
          </p:txBody>
        </p:sp>
      </p:grpSp>
      <p:grpSp>
        <p:nvGrpSpPr>
          <p:cNvPr id="69638" name="Group 35">
            <a:extLst>
              <a:ext uri="{FF2B5EF4-FFF2-40B4-BE49-F238E27FC236}">
                <a16:creationId xmlns:a16="http://schemas.microsoft.com/office/drawing/2014/main" id="{760B009A-E148-D08D-3553-39E87D55A07B}"/>
              </a:ext>
            </a:extLst>
          </p:cNvPr>
          <p:cNvGrpSpPr>
            <a:grpSpLocks/>
          </p:cNvGrpSpPr>
          <p:nvPr/>
        </p:nvGrpSpPr>
        <p:grpSpPr bwMode="auto">
          <a:xfrm>
            <a:off x="8226423" y="4322762"/>
            <a:ext cx="2451100" cy="2046288"/>
            <a:chOff x="3997" y="2016"/>
            <a:chExt cx="1544" cy="1289"/>
          </a:xfrm>
        </p:grpSpPr>
        <p:sp>
          <p:nvSpPr>
            <p:cNvPr id="69644" name="Oval 36">
              <a:extLst>
                <a:ext uri="{FF2B5EF4-FFF2-40B4-BE49-F238E27FC236}">
                  <a16:creationId xmlns:a16="http://schemas.microsoft.com/office/drawing/2014/main" id="{36D1B337-D361-7A42-1451-9B13414637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5" y="2016"/>
              <a:ext cx="480" cy="48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Monotype Sorts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/>
            </a:p>
          </p:txBody>
        </p:sp>
        <p:sp>
          <p:nvSpPr>
            <p:cNvPr id="69645" name="Oval 37">
              <a:extLst>
                <a:ext uri="{FF2B5EF4-FFF2-40B4-BE49-F238E27FC236}">
                  <a16:creationId xmlns:a16="http://schemas.microsoft.com/office/drawing/2014/main" id="{AFB374E4-5037-2C38-C29E-27393CF76B2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33" y="2016"/>
              <a:ext cx="1008" cy="1008"/>
            </a:xfrm>
            <a:prstGeom prst="ellipse">
              <a:avLst/>
            </a:prstGeom>
            <a:solidFill>
              <a:srgbClr val="99CCFF">
                <a:alpha val="79999"/>
              </a:srgbClr>
            </a:solidFill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Monotype Sorts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/>
            </a:p>
          </p:txBody>
        </p:sp>
        <p:sp>
          <p:nvSpPr>
            <p:cNvPr id="69646" name="Text Box 38">
              <a:extLst>
                <a:ext uri="{FF2B5EF4-FFF2-40B4-BE49-F238E27FC236}">
                  <a16:creationId xmlns:a16="http://schemas.microsoft.com/office/drawing/2014/main" id="{C0E9EF1B-AA04-ECF2-CD87-A10600F33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2" y="3072"/>
              <a:ext cx="45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Monotype Sorts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/>
                <a:t>Right</a:t>
              </a:r>
            </a:p>
          </p:txBody>
        </p:sp>
        <p:sp>
          <p:nvSpPr>
            <p:cNvPr id="69647" name="Oval 39">
              <a:extLst>
                <a:ext uri="{FF2B5EF4-FFF2-40B4-BE49-F238E27FC236}">
                  <a16:creationId xmlns:a16="http://schemas.microsoft.com/office/drawing/2014/main" id="{12694A66-4852-1459-ADB7-88FF6EA50F2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97" y="2016"/>
              <a:ext cx="1008" cy="10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Monotype Sorts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/>
            </a:p>
          </p:txBody>
        </p:sp>
      </p:grpSp>
      <p:grpSp>
        <p:nvGrpSpPr>
          <p:cNvPr id="69639" name="Group 40">
            <a:extLst>
              <a:ext uri="{FF2B5EF4-FFF2-40B4-BE49-F238E27FC236}">
                <a16:creationId xmlns:a16="http://schemas.microsoft.com/office/drawing/2014/main" id="{E2F9C6A1-5CC9-05BA-8713-C7B491F530B8}"/>
              </a:ext>
            </a:extLst>
          </p:cNvPr>
          <p:cNvGrpSpPr>
            <a:grpSpLocks/>
          </p:cNvGrpSpPr>
          <p:nvPr/>
        </p:nvGrpSpPr>
        <p:grpSpPr bwMode="auto">
          <a:xfrm>
            <a:off x="1504949" y="4322762"/>
            <a:ext cx="2546350" cy="2033588"/>
            <a:chOff x="144" y="2052"/>
            <a:chExt cx="1604" cy="1281"/>
          </a:xfrm>
        </p:grpSpPr>
        <p:sp>
          <p:nvSpPr>
            <p:cNvPr id="69640" name="Oval 41">
              <a:extLst>
                <a:ext uri="{FF2B5EF4-FFF2-40B4-BE49-F238E27FC236}">
                  <a16:creationId xmlns:a16="http://schemas.microsoft.com/office/drawing/2014/main" id="{1B045DD6-749B-0B64-835D-D57EBA906B6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2064"/>
              <a:ext cx="1008" cy="1008"/>
            </a:xfrm>
            <a:prstGeom prst="ellipse">
              <a:avLst/>
            </a:prstGeom>
            <a:solidFill>
              <a:schemeClr val="folHlink">
                <a:alpha val="7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Monotype Sorts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/>
            </a:p>
          </p:txBody>
        </p:sp>
        <p:sp>
          <p:nvSpPr>
            <p:cNvPr id="69641" name="Oval 42">
              <a:extLst>
                <a:ext uri="{FF2B5EF4-FFF2-40B4-BE49-F238E27FC236}">
                  <a16:creationId xmlns:a16="http://schemas.microsoft.com/office/drawing/2014/main" id="{B4B0BB04-931E-CA66-7E1C-FFDA09C81FE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740" y="2052"/>
              <a:ext cx="1008" cy="10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Monotype Sorts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 dirty="0"/>
            </a:p>
          </p:txBody>
        </p:sp>
        <p:sp>
          <p:nvSpPr>
            <p:cNvPr id="69642" name="Text Box 43">
              <a:extLst>
                <a:ext uri="{FF2B5EF4-FFF2-40B4-BE49-F238E27FC236}">
                  <a16:creationId xmlns:a16="http://schemas.microsoft.com/office/drawing/2014/main" id="{1AE033F1-5CB1-B7F3-41FD-88CA0EBAA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" y="3100"/>
              <a:ext cx="32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Monotype Sorts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/>
                <a:t>Left</a:t>
              </a:r>
            </a:p>
          </p:txBody>
        </p:sp>
        <p:sp>
          <p:nvSpPr>
            <p:cNvPr id="69643" name="Oval 44">
              <a:extLst>
                <a:ext uri="{FF2B5EF4-FFF2-40B4-BE49-F238E27FC236}">
                  <a16:creationId xmlns:a16="http://schemas.microsoft.com/office/drawing/2014/main" id="{AF0B5B26-7393-B687-E46B-3EC706750AF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44" y="2064"/>
              <a:ext cx="1008" cy="10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Monotype Sorts" pitchFamily="2" charset="2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endParaRPr lang="en-US" altLang="en-US"/>
            </a:p>
          </p:txBody>
        </p:sp>
      </p:grp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D20DAE6A-AD20-D9F7-E84E-06F39DF9E1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706439"/>
          </a:xfrm>
        </p:spPr>
        <p:txBody>
          <a:bodyPr/>
          <a:lstStyle/>
          <a:p>
            <a:pPr eaLnBrk="1" hangingPunct="1"/>
            <a:r>
              <a:rPr lang="en-US" altLang="en-US" dirty="0"/>
              <a:t>Outer Joins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DF84AF5C-10B1-5467-B5E3-BA4F4044B8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8566" y="1071564"/>
            <a:ext cx="10735234" cy="54213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/>
              <a:t>Outer join syntax is similar to the inner join alternate syntax. </a:t>
            </a:r>
          </a:p>
          <a:p>
            <a:pPr marL="0" indent="0">
              <a:buNone/>
            </a:pPr>
            <a:r>
              <a:rPr lang="en-US" altLang="en-US" dirty="0"/>
              <a:t>General form of an outer join: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r>
              <a:rPr lang="en-US" altLang="en-US" dirty="0"/>
              <a:t>The ON clause specifies the join criteria in outer joins. </a:t>
            </a:r>
          </a:p>
        </p:txBody>
      </p:sp>
      <p:sp>
        <p:nvSpPr>
          <p:cNvPr id="37894" name="Text Box 6">
            <a:extLst>
              <a:ext uri="{FF2B5EF4-FFF2-40B4-BE49-F238E27FC236}">
                <a16:creationId xmlns:a16="http://schemas.microsoft.com/office/drawing/2014/main" id="{0862E124-8EF4-04F1-42BF-6B680B574B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588" y="2546350"/>
            <a:ext cx="6669741" cy="1969770"/>
          </a:xfrm>
          <a:prstGeom prst="rect">
            <a:avLst/>
          </a:prstGeom>
          <a:solidFill>
            <a:srgbClr val="FFFFFF"/>
          </a:solidFill>
          <a:ln w="28575">
            <a:solidFill>
              <a:srgbClr val="FF0066"/>
            </a:solidFill>
            <a:miter lim="800000"/>
            <a:headEnd type="none" w="med" len="lg"/>
            <a:tailEnd type="none" w="med" len="lg"/>
          </a:ln>
          <a:effectLst>
            <a:outerShdw dist="107763" dir="2700000" algn="ctr" rotWithShape="0">
              <a:srgbClr val="C0C0C0">
                <a:alpha val="50000"/>
              </a:srgbClr>
            </a:outerShdw>
          </a:effectLst>
        </p:spPr>
        <p:txBody>
          <a:bodyPr wrap="square" lIns="88900" tIns="152400" rIns="88900" bIns="15240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SELECT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Arial"/>
              </a:rPr>
              <a:t>column-1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&lt;, …</a:t>
            </a:r>
            <a:r>
              <a:rPr lang="en-US" i="1" dirty="0">
                <a:solidFill>
                  <a:srgbClr val="000000"/>
                </a:solidFill>
                <a:latin typeface="Arial"/>
              </a:rPr>
              <a:t>column-n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&gt;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Arial"/>
              </a:rPr>
              <a:t>       </a:t>
            </a:r>
            <a:r>
              <a:rPr lang="en-US" b="1" dirty="0">
                <a:solidFill>
                  <a:srgbClr val="000000"/>
                </a:solidFill>
                <a:latin typeface="Arial"/>
              </a:rPr>
              <a:t>FROM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Arial"/>
              </a:rPr>
              <a:t>table-1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br>
              <a:rPr lang="en-US" dirty="0">
                <a:solidFill>
                  <a:srgbClr val="000000"/>
                </a:solidFill>
                <a:latin typeface="Arial"/>
              </a:rPr>
            </a:br>
            <a:r>
              <a:rPr lang="en-US" dirty="0">
                <a:solidFill>
                  <a:srgbClr val="000000"/>
                </a:solidFill>
                <a:latin typeface="Arial"/>
              </a:rPr>
              <a:t>       </a:t>
            </a:r>
            <a:r>
              <a:rPr lang="en-US" b="1" dirty="0">
                <a:solidFill>
                  <a:srgbClr val="000000"/>
                </a:solidFill>
                <a:latin typeface="Arial"/>
              </a:rPr>
              <a:t>LEFT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|</a:t>
            </a:r>
            <a:r>
              <a:rPr lang="en-US" b="1" dirty="0">
                <a:solidFill>
                  <a:srgbClr val="000000"/>
                </a:solidFill>
                <a:latin typeface="Arial"/>
              </a:rPr>
              <a:t>RIGHT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|</a:t>
            </a:r>
            <a:r>
              <a:rPr lang="en-US" b="1" dirty="0">
                <a:solidFill>
                  <a:srgbClr val="000000"/>
                </a:solidFill>
                <a:latin typeface="Arial"/>
              </a:rPr>
              <a:t>FULL JOIN 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Arial"/>
              </a:rPr>
              <a:t>                 </a:t>
            </a:r>
            <a:r>
              <a:rPr lang="en-US" i="1" dirty="0">
                <a:solidFill>
                  <a:srgbClr val="000000"/>
                </a:solidFill>
                <a:latin typeface="Arial"/>
              </a:rPr>
              <a:t>table-2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Arial"/>
              </a:rPr>
              <a:t>       </a:t>
            </a:r>
            <a:r>
              <a:rPr lang="en-US" b="1" dirty="0">
                <a:solidFill>
                  <a:srgbClr val="000000"/>
                </a:solidFill>
                <a:latin typeface="Arial"/>
              </a:rPr>
              <a:t>ON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Arial"/>
              </a:rPr>
              <a:t>join-condition(s)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Arial"/>
              </a:rPr>
              <a:t>             &lt;</a:t>
            </a:r>
            <a:r>
              <a:rPr lang="en-US" i="1" dirty="0">
                <a:solidFill>
                  <a:srgbClr val="000000"/>
                </a:solidFill>
                <a:latin typeface="Arial"/>
              </a:rPr>
              <a:t>other clauses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&gt;</a:t>
            </a:r>
            <a:r>
              <a:rPr lang="en-US" b="1" dirty="0">
                <a:solidFill>
                  <a:srgbClr val="000000"/>
                </a:solidFill>
                <a:latin typeface="Arial"/>
              </a:rPr>
              <a:t>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>
            <a:extLst>
              <a:ext uri="{FF2B5EF4-FFF2-40B4-BE49-F238E27FC236}">
                <a16:creationId xmlns:a16="http://schemas.microsoft.com/office/drawing/2014/main" id="{6D0CAF6F-E806-8074-3036-8646B233AA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Full outer join </a:t>
            </a:r>
          </a:p>
        </p:txBody>
      </p:sp>
      <p:sp>
        <p:nvSpPr>
          <p:cNvPr id="71683" name="Content Placeholder 2">
            <a:extLst>
              <a:ext uri="{FF2B5EF4-FFF2-40B4-BE49-F238E27FC236}">
                <a16:creationId xmlns:a16="http://schemas.microsoft.com/office/drawing/2014/main" id="{A9555CAF-F82C-C77D-A3AB-7A46946D10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SELECT * FROM table1 LEFT JOIN table2 ON table1.common_column = table2.common_column UNION  SELECT * FROM table1 RIGHT JOIN table2 ON table1.common_column = table2.common_column;</a:t>
            </a:r>
            <a:endParaRPr lang="en-I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750F5864-AEE5-216A-6AAC-4D62CDFAB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697193"/>
          </a:xfrm>
        </p:spPr>
        <p:txBody>
          <a:bodyPr/>
          <a:lstStyle/>
          <a:p>
            <a:pPr eaLnBrk="1" hangingPunct="1"/>
            <a:r>
              <a:rPr lang="en-US" altLang="en-US" dirty="0"/>
              <a:t>Determining Left and Right</a:t>
            </a:r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D07934E7-3324-6AE7-ADDC-25FAF235E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565" y="1223682"/>
            <a:ext cx="10735235" cy="5040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tabLst>
                <a:tab pos="14922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5613" indent="-341313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tabLst>
                <a:tab pos="14922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tabLst>
                <a:tab pos="14922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tabLst>
                <a:tab pos="14922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4922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922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922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922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922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dirty="0">
                <a:latin typeface="+mn-lt"/>
              </a:rPr>
              <a:t>Consider the position of the tables in the FROM clause.</a:t>
            </a:r>
          </a:p>
          <a:p>
            <a:pPr lvl="1"/>
            <a:r>
              <a:rPr lang="en-US" altLang="en-US" dirty="0">
                <a:latin typeface="+mn-lt"/>
              </a:rPr>
              <a:t>Left joins include all rows from the first (left) table, even if there are no matching rows in the second (right) table.</a:t>
            </a:r>
          </a:p>
          <a:p>
            <a:pPr lvl="1"/>
            <a:r>
              <a:rPr lang="en-US" altLang="en-US" dirty="0">
                <a:latin typeface="+mn-lt"/>
              </a:rPr>
              <a:t>Right joins include all rows from the second (right) table, even if there are no matching rows in the first (left) table.</a:t>
            </a:r>
          </a:p>
          <a:p>
            <a:pPr lvl="1"/>
            <a:r>
              <a:rPr lang="en-US" altLang="en-US" dirty="0">
                <a:latin typeface="+mn-lt"/>
              </a:rPr>
              <a:t>Full joins include all rows from both tables, even if there are no matching rows in either table.</a:t>
            </a:r>
          </a:p>
        </p:txBody>
      </p:sp>
      <p:sp>
        <p:nvSpPr>
          <p:cNvPr id="72709" name="Text Box 9">
            <a:extLst>
              <a:ext uri="{FF2B5EF4-FFF2-40B4-BE49-F238E27FC236}">
                <a16:creationId xmlns:a16="http://schemas.microsoft.com/office/drawing/2014/main" id="{33E94421-E729-964F-CC85-B47361AB4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3581400"/>
            <a:ext cx="179601" cy="548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IN" altLang="en-US" noProof="1">
              <a:latin typeface="Courier New" panose="02070309020205020404" pitchFamily="49" charset="0"/>
            </a:endParaRPr>
          </a:p>
        </p:txBody>
      </p:sp>
      <p:sp>
        <p:nvSpPr>
          <p:cNvPr id="118797" name="Text Box 13">
            <a:extLst>
              <a:ext uri="{FF2B5EF4-FFF2-40B4-BE49-F238E27FC236}">
                <a16:creationId xmlns:a16="http://schemas.microsoft.com/office/drawing/2014/main" id="{1D42C9BE-E926-DF6D-A994-AC8C2324FD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1388" y="5354638"/>
            <a:ext cx="3334246" cy="861774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 type="none" w="med" len="lg"/>
            <a:tailEnd type="none" w="med" len="lg"/>
          </a:ln>
          <a:effectLst>
            <a:outerShdw dist="107763" dir="2700000" algn="ctr" rotWithShape="0">
              <a:srgbClr val="C0C0C0">
                <a:alpha val="50000"/>
              </a:srgbClr>
            </a:outerShdw>
          </a:effectLst>
        </p:spPr>
        <p:txBody>
          <a:bodyPr wrap="none" lIns="88900" tIns="152400" rIns="88900" bIns="152400">
            <a:spAutoFit/>
          </a:bodyPr>
          <a:lstStyle/>
          <a:p>
            <a:pPr>
              <a:tabLst>
                <a:tab pos="635000" algn="l"/>
              </a:tabLst>
              <a:defRPr/>
            </a:pPr>
            <a:r>
              <a:rPr lang="en-US" b="1" dirty="0">
                <a:solidFill>
                  <a:srgbClr val="000000"/>
                </a:solidFill>
                <a:latin typeface="Arial"/>
              </a:rPr>
              <a:t>FROM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Arial"/>
              </a:rPr>
              <a:t>table-1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Arial"/>
              </a:rPr>
              <a:t>join-type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Arial"/>
              </a:rPr>
              <a:t>table-2</a:t>
            </a:r>
          </a:p>
          <a:p>
            <a:pPr>
              <a:tabLst>
                <a:tab pos="635000" algn="l"/>
              </a:tabLst>
              <a:defRPr/>
            </a:pPr>
            <a:r>
              <a:rPr lang="en-US" dirty="0">
                <a:solidFill>
                  <a:srgbClr val="000000"/>
                </a:solidFill>
                <a:latin typeface="Arial"/>
              </a:rPr>
              <a:t>	</a:t>
            </a:r>
            <a:r>
              <a:rPr lang="en-US" b="1" dirty="0">
                <a:solidFill>
                  <a:srgbClr val="000000"/>
                </a:solidFill>
                <a:latin typeface="Arial"/>
              </a:rPr>
              <a:t>ON</a:t>
            </a:r>
            <a:r>
              <a:rPr lang="en-US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i="1" dirty="0">
                <a:solidFill>
                  <a:srgbClr val="000000"/>
                </a:solidFill>
                <a:latin typeface="Arial"/>
              </a:rPr>
              <a:t>join-condition(s)</a:t>
            </a:r>
            <a:r>
              <a:rPr lang="en-US" b="1" dirty="0">
                <a:solidFill>
                  <a:srgbClr val="000000"/>
                </a:solidFill>
                <a:latin typeface="Arial"/>
              </a:rPr>
              <a:t>;</a:t>
            </a:r>
          </a:p>
        </p:txBody>
      </p:sp>
      <p:sp>
        <p:nvSpPr>
          <p:cNvPr id="72711" name="AutoShape 11">
            <a:extLst>
              <a:ext uri="{FF2B5EF4-FFF2-40B4-BE49-F238E27FC236}">
                <a16:creationId xmlns:a16="http://schemas.microsoft.com/office/drawing/2014/main" id="{BA79D853-7E3D-6800-DECC-5B275B4684A5}"/>
              </a:ext>
            </a:extLst>
          </p:cNvPr>
          <p:cNvSpPr>
            <a:spLocks/>
          </p:cNvSpPr>
          <p:nvPr/>
        </p:nvSpPr>
        <p:spPr bwMode="auto">
          <a:xfrm>
            <a:off x="7581099" y="4867325"/>
            <a:ext cx="1503617" cy="487313"/>
          </a:xfrm>
          <a:prstGeom prst="borderCallout1">
            <a:avLst>
              <a:gd name="adj1" fmla="val 49157"/>
              <a:gd name="adj2" fmla="val -843"/>
              <a:gd name="adj3" fmla="val 164940"/>
              <a:gd name="adj4" fmla="val -52671"/>
            </a:avLst>
          </a:prstGeom>
          <a:solidFill>
            <a:srgbClr val="FFF2BE"/>
          </a:solidFill>
          <a:ln w="38100">
            <a:solidFill>
              <a:srgbClr val="000000"/>
            </a:solidFill>
            <a:miter lim="800000"/>
            <a:headEnd type="none" w="med" len="lg"/>
            <a:tailEnd type="triangle" w="med" len="lg"/>
          </a:ln>
        </p:spPr>
        <p:txBody>
          <a:bodyPr wrap="none" lIns="88900" tIns="88900" rIns="88900" bIns="88900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</a:rPr>
              <a:t>Right table</a:t>
            </a:r>
          </a:p>
        </p:txBody>
      </p:sp>
      <p:sp>
        <p:nvSpPr>
          <p:cNvPr id="72712" name="AutoShape 12">
            <a:extLst>
              <a:ext uri="{FF2B5EF4-FFF2-40B4-BE49-F238E27FC236}">
                <a16:creationId xmlns:a16="http://schemas.microsoft.com/office/drawing/2014/main" id="{AAA13846-7C55-2567-EBEE-15B51EB8AA5F}"/>
              </a:ext>
            </a:extLst>
          </p:cNvPr>
          <p:cNvSpPr>
            <a:spLocks/>
          </p:cNvSpPr>
          <p:nvPr/>
        </p:nvSpPr>
        <p:spPr bwMode="auto">
          <a:xfrm>
            <a:off x="2706058" y="4702993"/>
            <a:ext cx="1317668" cy="487313"/>
          </a:xfrm>
          <a:prstGeom prst="borderCallout1">
            <a:avLst>
              <a:gd name="adj1" fmla="val 49157"/>
              <a:gd name="adj2" fmla="val 99042"/>
              <a:gd name="adj3" fmla="val 160366"/>
              <a:gd name="adj4" fmla="val 163190"/>
            </a:avLst>
          </a:prstGeom>
          <a:solidFill>
            <a:srgbClr val="FFF2BE"/>
          </a:solidFill>
          <a:ln w="38100">
            <a:solidFill>
              <a:srgbClr val="000000"/>
            </a:solidFill>
            <a:miter lim="800000"/>
            <a:headEnd type="none" w="med" len="lg"/>
            <a:tailEnd type="triangle" w="med" len="lg"/>
          </a:ln>
        </p:spPr>
        <p:txBody>
          <a:bodyPr wrap="none" lIns="88900" tIns="88900" rIns="88900" bIns="88900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2000" b="1">
                <a:solidFill>
                  <a:srgbClr val="000000"/>
                </a:solidFill>
              </a:rPr>
              <a:t>Left table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0B959999-2113-6249-DBB1-0A00D15B31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68897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Left Join</a:t>
            </a:r>
          </a:p>
        </p:txBody>
      </p:sp>
      <p:sp>
        <p:nvSpPr>
          <p:cNvPr id="73732" name="Text Box 24">
            <a:extLst>
              <a:ext uri="{FF2B5EF4-FFF2-40B4-BE49-F238E27FC236}">
                <a16:creationId xmlns:a16="http://schemas.microsoft.com/office/drawing/2014/main" id="{8E6FFE77-39F7-24FC-85FF-F67990379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5718" y="3533773"/>
            <a:ext cx="4703763" cy="1073150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lIns="50800" tIns="50800" rIns="50800" bIns="5080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select * 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   from one left join two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      on one.x = two.x;</a:t>
            </a:r>
          </a:p>
        </p:txBody>
      </p:sp>
      <p:graphicFrame>
        <p:nvGraphicFramePr>
          <p:cNvPr id="39588" name="Group 676">
            <a:extLst>
              <a:ext uri="{FF2B5EF4-FFF2-40B4-BE49-F238E27FC236}">
                <a16:creationId xmlns:a16="http://schemas.microsoft.com/office/drawing/2014/main" id="{CE39F952-3B37-2D8A-3E2B-4892C732AB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87067"/>
              </p:ext>
            </p:extLst>
          </p:nvPr>
        </p:nvGraphicFramePr>
        <p:xfrm>
          <a:off x="2840317" y="1587498"/>
          <a:ext cx="1524000" cy="1598780"/>
        </p:xfrm>
        <a:graphic>
          <a:graphicData uri="http://schemas.openxmlformats.org/drawingml/2006/table">
            <a:tbl>
              <a:tblPr/>
              <a:tblGrid>
                <a:gridCol w="731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12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6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9589" name="Group 677">
            <a:extLst>
              <a:ext uri="{FF2B5EF4-FFF2-40B4-BE49-F238E27FC236}">
                <a16:creationId xmlns:a16="http://schemas.microsoft.com/office/drawing/2014/main" id="{4B1D250C-9B6C-AAA0-9894-CCBDE70F9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078000"/>
              </p:ext>
            </p:extLst>
          </p:nvPr>
        </p:nvGraphicFramePr>
        <p:xfrm>
          <a:off x="6237568" y="1587499"/>
          <a:ext cx="1522413" cy="1595439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9590" name="Group 678">
            <a:extLst>
              <a:ext uri="{FF2B5EF4-FFF2-40B4-BE49-F238E27FC236}">
                <a16:creationId xmlns:a16="http://schemas.microsoft.com/office/drawing/2014/main" id="{55630B0D-7FFB-9E6C-09CF-F806BC8D4E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757029"/>
              </p:ext>
            </p:extLst>
          </p:nvPr>
        </p:nvGraphicFramePr>
        <p:xfrm>
          <a:off x="3902355" y="4672012"/>
          <a:ext cx="2844800" cy="1652589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825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3798" name="Rectangle 544">
            <a:extLst>
              <a:ext uri="{FF2B5EF4-FFF2-40B4-BE49-F238E27FC236}">
                <a16:creationId xmlns:a16="http://schemas.microsoft.com/office/drawing/2014/main" id="{BB457B1F-1B09-0716-3C67-BC8422AF37A3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100917" y="3889373"/>
            <a:ext cx="1646238" cy="336550"/>
          </a:xfrm>
          <a:prstGeom prst="rect">
            <a:avLst/>
          </a:pr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 anchor="ctr"/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73799" name="Rectangle 545">
            <a:extLst>
              <a:ext uri="{FF2B5EF4-FFF2-40B4-BE49-F238E27FC236}">
                <a16:creationId xmlns:a16="http://schemas.microsoft.com/office/drawing/2014/main" id="{1388CC40-9AAE-6273-9F85-483F53DD5FEE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005543" y="4200523"/>
            <a:ext cx="390525" cy="336550"/>
          </a:xfrm>
          <a:prstGeom prst="rect">
            <a:avLst/>
          </a:pr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 anchor="ctr"/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7473F063-5E98-3E12-4520-20BE66228C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Right Join</a:t>
            </a:r>
          </a:p>
        </p:txBody>
      </p:sp>
      <p:sp>
        <p:nvSpPr>
          <p:cNvPr id="75780" name="Text Box 3">
            <a:extLst>
              <a:ext uri="{FF2B5EF4-FFF2-40B4-BE49-F238E27FC236}">
                <a16:creationId xmlns:a16="http://schemas.microsoft.com/office/drawing/2014/main" id="{4868A187-9DA1-F9D6-0F7A-EBC65A73F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0224" y="3636963"/>
            <a:ext cx="4903788" cy="1073150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lIns="50800" tIns="50800" rIns="50800" bIns="5080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select * 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   from two right join one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      on one.x = two.x;</a:t>
            </a:r>
          </a:p>
        </p:txBody>
      </p:sp>
      <p:graphicFrame>
        <p:nvGraphicFramePr>
          <p:cNvPr id="204122" name="Group 346">
            <a:extLst>
              <a:ext uri="{FF2B5EF4-FFF2-40B4-BE49-F238E27FC236}">
                <a16:creationId xmlns:a16="http://schemas.microsoft.com/office/drawing/2014/main" id="{20A7C88C-EA1A-7626-F449-C3B6A2B33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319435"/>
              </p:ext>
            </p:extLst>
          </p:nvPr>
        </p:nvGraphicFramePr>
        <p:xfrm>
          <a:off x="5986837" y="1690688"/>
          <a:ext cx="1524000" cy="1598780"/>
        </p:xfrm>
        <a:graphic>
          <a:graphicData uri="http://schemas.openxmlformats.org/drawingml/2006/table">
            <a:tbl>
              <a:tblPr/>
              <a:tblGrid>
                <a:gridCol w="7318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12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6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4123" name="Group 347">
            <a:extLst>
              <a:ext uri="{FF2B5EF4-FFF2-40B4-BE49-F238E27FC236}">
                <a16:creationId xmlns:a16="http://schemas.microsoft.com/office/drawing/2014/main" id="{7FC38224-4B1A-789A-AC61-414190D35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930899"/>
              </p:ext>
            </p:extLst>
          </p:nvPr>
        </p:nvGraphicFramePr>
        <p:xfrm>
          <a:off x="2584825" y="1690689"/>
          <a:ext cx="1522413" cy="1593851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4124" name="Group 348">
            <a:extLst>
              <a:ext uri="{FF2B5EF4-FFF2-40B4-BE49-F238E27FC236}">
                <a16:creationId xmlns:a16="http://schemas.microsoft.com/office/drawing/2014/main" id="{4F215CF7-783C-84BF-0667-54D53F367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1126410"/>
              </p:ext>
            </p:extLst>
          </p:nvPr>
        </p:nvGraphicFramePr>
        <p:xfrm>
          <a:off x="3646862" y="4775202"/>
          <a:ext cx="2844800" cy="1651001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825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846" name="Rectangle 214">
            <a:extLst>
              <a:ext uri="{FF2B5EF4-FFF2-40B4-BE49-F238E27FC236}">
                <a16:creationId xmlns:a16="http://schemas.microsoft.com/office/drawing/2014/main" id="{30BD4257-8CEF-828B-C684-8264FF32F1E8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845424" y="3992563"/>
            <a:ext cx="1828800" cy="336550"/>
          </a:xfrm>
          <a:prstGeom prst="rect">
            <a:avLst/>
          </a:pr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 anchor="ctr"/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75847" name="Rectangle 215">
            <a:extLst>
              <a:ext uri="{FF2B5EF4-FFF2-40B4-BE49-F238E27FC236}">
                <a16:creationId xmlns:a16="http://schemas.microsoft.com/office/drawing/2014/main" id="{6BC6A405-6085-AC5E-4238-F0556C4D981B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750050" y="4303713"/>
            <a:ext cx="390525" cy="336550"/>
          </a:xfrm>
          <a:prstGeom prst="rect">
            <a:avLst/>
          </a:pr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 anchor="ctr"/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3">
            <a:extLst>
              <a:ext uri="{FF2B5EF4-FFF2-40B4-BE49-F238E27FC236}">
                <a16:creationId xmlns:a16="http://schemas.microsoft.com/office/drawing/2014/main" id="{C91130EE-0A32-CC44-45C1-B4085A20A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Full Join</a:t>
            </a:r>
          </a:p>
        </p:txBody>
      </p:sp>
      <p:sp>
        <p:nvSpPr>
          <p:cNvPr id="77828" name="Text Box 4">
            <a:extLst>
              <a:ext uri="{FF2B5EF4-FFF2-40B4-BE49-F238E27FC236}">
                <a16:creationId xmlns:a16="http://schemas.microsoft.com/office/drawing/2014/main" id="{8DEF72DB-F64E-8049-7064-64B169F5E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4577" y="3319460"/>
            <a:ext cx="4703762" cy="1073150"/>
          </a:xfrm>
          <a:prstGeom prst="rect">
            <a:avLst/>
          </a:prstGeom>
          <a:solidFill>
            <a:srgbClr val="FFFFFF"/>
          </a:solidFill>
          <a:ln w="38100">
            <a:solidFill>
              <a:schemeClr val="tx2"/>
            </a:solidFill>
            <a:miter lim="800000"/>
            <a:headEnd type="none" w="sm" len="sm"/>
            <a:tailEnd type="none" w="sm" len="sm"/>
          </a:ln>
        </p:spPr>
        <p:txBody>
          <a:bodyPr wrap="none" lIns="50800" tIns="50800" rIns="50800" bIns="5080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select * 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   from one full join two</a:t>
            </a:r>
          </a:p>
          <a:p>
            <a:pPr>
              <a:lnSpc>
                <a:spcPct val="85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latin typeface="Courier New" panose="02070309020205020404" pitchFamily="49" charset="0"/>
              </a:rPr>
              <a:t>      on one.x = two.x;</a:t>
            </a:r>
          </a:p>
        </p:txBody>
      </p:sp>
      <p:graphicFrame>
        <p:nvGraphicFramePr>
          <p:cNvPr id="205165" name="Group 365">
            <a:extLst>
              <a:ext uri="{FF2B5EF4-FFF2-40B4-BE49-F238E27FC236}">
                <a16:creationId xmlns:a16="http://schemas.microsoft.com/office/drawing/2014/main" id="{B45CE138-6F4A-A65A-2E4D-113EA8C78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634306"/>
              </p:ext>
            </p:extLst>
          </p:nvPr>
        </p:nvGraphicFramePr>
        <p:xfrm>
          <a:off x="2517589" y="1373185"/>
          <a:ext cx="1525588" cy="1598780"/>
        </p:xfrm>
        <a:graphic>
          <a:graphicData uri="http://schemas.openxmlformats.org/drawingml/2006/table">
            <a:tbl>
              <a:tblPr/>
              <a:tblGrid>
                <a:gridCol w="73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12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One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6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s-E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62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5166" name="Group 366">
            <a:extLst>
              <a:ext uri="{FF2B5EF4-FFF2-40B4-BE49-F238E27FC236}">
                <a16:creationId xmlns:a16="http://schemas.microsoft.com/office/drawing/2014/main" id="{B01E79BB-72A6-8E92-7D9A-CD5A245FC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214186"/>
              </p:ext>
            </p:extLst>
          </p:nvPr>
        </p:nvGraphicFramePr>
        <p:xfrm>
          <a:off x="5921190" y="1373186"/>
          <a:ext cx="1522413" cy="1593851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</a:rPr>
                        <a:t>Table Two</a:t>
                      </a: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5167" name="Group 367">
            <a:extLst>
              <a:ext uri="{FF2B5EF4-FFF2-40B4-BE49-F238E27FC236}">
                <a16:creationId xmlns:a16="http://schemas.microsoft.com/office/drawing/2014/main" id="{EAC9EC8D-BF7A-7CAE-F818-18124A787C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310174"/>
              </p:ext>
            </p:extLst>
          </p:nvPr>
        </p:nvGraphicFramePr>
        <p:xfrm>
          <a:off x="3579627" y="4457699"/>
          <a:ext cx="2844800" cy="2289177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825">
                <a:tc grid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400" b="1" i="0" u="none" strike="noStrike" cap="none" normalizeH="0" baseline="0" noProof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charset="0"/>
                      </a:endParaRPr>
                    </a:p>
                  </a:txBody>
                  <a:tcPr marL="0" marR="0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ourier New" pitchFamily="49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x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y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noProof="1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0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.</a:t>
                      </a:r>
                    </a:p>
                  </a:txBody>
                  <a:tcPr marL="88900" marR="88900" marT="0" marB="0"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 cap="flat">
                      <a:noFill/>
                    </a:lnTlToBr>
                    <a:lnBlToTr cap="flat"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noProof="1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charset="0"/>
                        </a:rPr>
                        <a:t>v</a:t>
                      </a:r>
                    </a:p>
                  </a:txBody>
                  <a:tcPr marL="88900" marR="889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lg"/>
                      <a:tailEnd type="none" w="med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7904" name="Rectangle 232">
            <a:extLst>
              <a:ext uri="{FF2B5EF4-FFF2-40B4-BE49-F238E27FC236}">
                <a16:creationId xmlns:a16="http://schemas.microsoft.com/office/drawing/2014/main" id="{04F1ECBB-0C81-D12A-B236-5421E161FC0C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4779778" y="3675060"/>
            <a:ext cx="1646237" cy="336550"/>
          </a:xfrm>
          <a:prstGeom prst="rect">
            <a:avLst/>
          </a:pr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 anchor="ctr"/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  <p:sp>
        <p:nvSpPr>
          <p:cNvPr id="77905" name="Rectangle 233">
            <a:extLst>
              <a:ext uri="{FF2B5EF4-FFF2-40B4-BE49-F238E27FC236}">
                <a16:creationId xmlns:a16="http://schemas.microsoft.com/office/drawing/2014/main" id="{B6B04536-A1FB-A3F8-B558-BDF2E3BC5A4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684403" y="3951569"/>
            <a:ext cx="390525" cy="336550"/>
          </a:xfrm>
          <a:prstGeom prst="rect">
            <a:avLst/>
          </a:prstGeom>
          <a:solidFill>
            <a:srgbClr val="99CC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 type="none" w="med" len="lg"/>
                <a:tailEnd type="none" w="med" len="lg"/>
              </a14:hiddenLine>
            </a:ext>
          </a:extLst>
        </p:spPr>
        <p:txBody>
          <a:bodyPr wrap="none" lIns="88900" tIns="88900" rIns="88900" bIns="88900" anchor="ctr"/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>
            <a:extLst>
              <a:ext uri="{FF2B5EF4-FFF2-40B4-BE49-F238E27FC236}">
                <a16:creationId xmlns:a16="http://schemas.microsoft.com/office/drawing/2014/main" id="{00B848B9-9F97-492A-14F4-00B8930EF7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35150" y="292101"/>
            <a:ext cx="8521700" cy="555625"/>
          </a:xfrm>
        </p:spPr>
        <p:txBody>
          <a:bodyPr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en-US"/>
              <a:t>LEFT JOIN</a:t>
            </a:r>
          </a:p>
        </p:txBody>
      </p:sp>
      <p:pic>
        <p:nvPicPr>
          <p:cNvPr id="79877" name="Picture 2">
            <a:extLst>
              <a:ext uri="{FF2B5EF4-FFF2-40B4-BE49-F238E27FC236}">
                <a16:creationId xmlns:a16="http://schemas.microsoft.com/office/drawing/2014/main" id="{4AB02C53-66BD-41F2-E010-AAB995EF2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3" y="1820585"/>
            <a:ext cx="1655762" cy="320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8" name="TextBox 5">
            <a:extLst>
              <a:ext uri="{FF2B5EF4-FFF2-40B4-BE49-F238E27FC236}">
                <a16:creationId xmlns:a16="http://schemas.microsoft.com/office/drawing/2014/main" id="{080A66A3-4DFA-B1AB-0AAA-EE8A7537F7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745" y="1635919"/>
            <a:ext cx="160822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 dirty="0">
                <a:latin typeface="+mn-lt"/>
              </a:rPr>
              <a:t>INSTRUCTOR</a:t>
            </a:r>
          </a:p>
        </p:txBody>
      </p:sp>
      <p:pic>
        <p:nvPicPr>
          <p:cNvPr id="79879" name="Picture 3">
            <a:extLst>
              <a:ext uri="{FF2B5EF4-FFF2-40B4-BE49-F238E27FC236}">
                <a16:creationId xmlns:a16="http://schemas.microsoft.com/office/drawing/2014/main" id="{76C50E7B-3EFB-F2F4-F5D5-DBD501C3F6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336" y="2145127"/>
            <a:ext cx="1534509" cy="1700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80" name="TextBox 7">
            <a:extLst>
              <a:ext uri="{FF2B5EF4-FFF2-40B4-BE49-F238E27FC236}">
                <a16:creationId xmlns:a16="http://schemas.microsoft.com/office/drawing/2014/main" id="{3DDCDDD4-D4B6-E30F-02CD-81F5535B5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5782" y="1708150"/>
            <a:ext cx="10842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600" dirty="0">
                <a:latin typeface="+mn-lt"/>
              </a:rPr>
              <a:t>TEACHES</a:t>
            </a:r>
          </a:p>
        </p:txBody>
      </p:sp>
      <p:sp>
        <p:nvSpPr>
          <p:cNvPr id="79881" name="TextBox 9">
            <a:extLst>
              <a:ext uri="{FF2B5EF4-FFF2-40B4-BE49-F238E27FC236}">
                <a16:creationId xmlns:a16="http://schemas.microsoft.com/office/drawing/2014/main" id="{CAFE27D7-291F-4FB4-BBBB-BD80D5AC6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8314" y="957263"/>
            <a:ext cx="5626192" cy="830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Monotype Sorts" pitchFamily="2" charset="2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dirty="0">
                <a:latin typeface="+mn-lt"/>
              </a:rPr>
              <a:t>select * from instructor </a:t>
            </a:r>
            <a:r>
              <a:rPr lang="en-US" altLang="en-US" b="1" dirty="0">
                <a:latin typeface="+mn-lt"/>
              </a:rPr>
              <a:t>left join </a:t>
            </a:r>
            <a:r>
              <a:rPr lang="en-US" altLang="en-US" dirty="0">
                <a:latin typeface="+mn-lt"/>
              </a:rPr>
              <a:t>teaches </a:t>
            </a:r>
            <a:r>
              <a:rPr lang="en-US" altLang="en-US" b="1" dirty="0">
                <a:latin typeface="+mn-lt"/>
              </a:rPr>
              <a:t>on</a:t>
            </a:r>
            <a:r>
              <a:rPr lang="en-US" altLang="en-US" dirty="0">
                <a:latin typeface="+mn-lt"/>
              </a:rPr>
              <a:t> instructor.id=teaches.id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5D9E48-DEC7-399C-A780-02DAAAC6E7B0}"/>
              </a:ext>
            </a:extLst>
          </p:cNvPr>
          <p:cNvSpPr txBox="1"/>
          <p:nvPr/>
        </p:nvSpPr>
        <p:spPr>
          <a:xfrm>
            <a:off x="1247406" y="5242460"/>
            <a:ext cx="66729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sz="2000" dirty="0">
                <a:cs typeface="Arial" charset="0"/>
              </a:rPr>
              <a:t>select </a:t>
            </a:r>
            <a:r>
              <a:rPr lang="en-US" sz="2000" i="1" dirty="0">
                <a:cs typeface="Arial" charset="0"/>
              </a:rPr>
              <a:t>instructor.id, instructor.name, </a:t>
            </a:r>
            <a:r>
              <a:rPr lang="en-US" sz="2000" i="1" dirty="0" err="1">
                <a:cs typeface="Arial" charset="0"/>
              </a:rPr>
              <a:t>teaches.course</a:t>
            </a:r>
            <a:r>
              <a:rPr lang="en-US" sz="2000" dirty="0">
                <a:cs typeface="Arial" charset="0"/>
              </a:rPr>
              <a:t> from instructor </a:t>
            </a:r>
            <a:r>
              <a:rPr lang="en-US" sz="2000" b="1" dirty="0">
                <a:cs typeface="Arial" charset="0"/>
              </a:rPr>
              <a:t>left 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  <a:cs typeface="Arial" charset="0"/>
              </a:rPr>
              <a:t>outer</a:t>
            </a:r>
            <a:r>
              <a:rPr lang="en-US" sz="2000" b="1" dirty="0">
                <a:cs typeface="Arial" charset="0"/>
              </a:rPr>
              <a:t> join </a:t>
            </a:r>
            <a:r>
              <a:rPr lang="en-US" sz="2000" dirty="0">
                <a:cs typeface="Arial" charset="0"/>
              </a:rPr>
              <a:t>teaches </a:t>
            </a:r>
            <a:r>
              <a:rPr lang="en-US" sz="2000" b="1" dirty="0">
                <a:cs typeface="Arial" charset="0"/>
              </a:rPr>
              <a:t>on</a:t>
            </a:r>
            <a:r>
              <a:rPr lang="en-US" sz="2000" dirty="0">
                <a:cs typeface="Arial" charset="0"/>
              </a:rPr>
              <a:t> instructor.id=teaches.id</a:t>
            </a:r>
          </a:p>
          <a:p>
            <a:pPr algn="ctr" eaLnBrk="1" hangingPunct="1">
              <a:defRPr/>
            </a:pPr>
            <a:r>
              <a:rPr lang="en-US" sz="2000" b="1" dirty="0">
                <a:cs typeface="Arial" charset="0"/>
              </a:rPr>
              <a:t>(or)</a:t>
            </a:r>
          </a:p>
          <a:p>
            <a:pPr eaLnBrk="1" hangingPunct="1">
              <a:defRPr/>
            </a:pPr>
            <a:r>
              <a:rPr lang="en-US" sz="2000" dirty="0">
                <a:cs typeface="Arial" charset="0"/>
              </a:rPr>
              <a:t>select * from instructor </a:t>
            </a:r>
            <a:r>
              <a:rPr lang="en-US" sz="2000" b="1" dirty="0">
                <a:cs typeface="Arial" charset="0"/>
              </a:rPr>
              <a:t>natural left join </a:t>
            </a:r>
            <a:r>
              <a:rPr lang="en-US" sz="2000" dirty="0">
                <a:cs typeface="Arial" charset="0"/>
              </a:rPr>
              <a:t>teaches;</a:t>
            </a:r>
          </a:p>
        </p:txBody>
      </p:sp>
      <p:pic>
        <p:nvPicPr>
          <p:cNvPr id="79883" name="Picture 2">
            <a:extLst>
              <a:ext uri="{FF2B5EF4-FFF2-40B4-BE49-F238E27FC236}">
                <a16:creationId xmlns:a16="http://schemas.microsoft.com/office/drawing/2014/main" id="{F7BF7F09-3235-82F5-9278-5E7107FCA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8386" y="2145127"/>
            <a:ext cx="4083426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884" name="Picture 3">
            <a:extLst>
              <a:ext uri="{FF2B5EF4-FFF2-40B4-BE49-F238E27FC236}">
                <a16:creationId xmlns:a16="http://schemas.microsoft.com/office/drawing/2014/main" id="{794DBF8A-D236-9B73-BC10-60865586B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881" y="4584468"/>
            <a:ext cx="2714625" cy="186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0903D-BB90-90AB-12CB-955443F8E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338" y="1151731"/>
            <a:ext cx="11477438" cy="4554538"/>
          </a:xfrm>
        </p:spPr>
        <p:txBody>
          <a:bodyPr/>
          <a:lstStyle/>
          <a:p>
            <a:pPr>
              <a:buFont typeface="Monotype Sorts" pitchFamily="2" charset="2"/>
              <a:buNone/>
              <a:defRPr/>
            </a:pPr>
            <a:r>
              <a:rPr lang="en-US" dirty="0"/>
              <a:t>	In the previous slide replace the keyword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left </a:t>
            </a:r>
            <a:r>
              <a:rPr lang="en-US" dirty="0"/>
              <a:t>with </a:t>
            </a:r>
            <a:r>
              <a:rPr lang="en-US" dirty="0">
                <a:solidFill>
                  <a:srgbClr val="FF0000"/>
                </a:solidFill>
              </a:rPr>
              <a:t>right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full </a:t>
            </a:r>
            <a:r>
              <a:rPr lang="en-US" dirty="0"/>
              <a:t>to see how right join and full join works.</a:t>
            </a:r>
          </a:p>
          <a:p>
            <a:pPr>
              <a:buFont typeface="Monotype Sorts" pitchFamily="2" charset="2"/>
              <a:buNone/>
              <a:defRPr/>
            </a:pPr>
            <a:endParaRPr lang="en-US" dirty="0"/>
          </a:p>
          <a:p>
            <a:pPr>
              <a:buFont typeface="Monotype Sorts" pitchFamily="2" charset="2"/>
              <a:buNone/>
              <a:defRPr/>
            </a:pPr>
            <a:endParaRPr lang="en-US" dirty="0"/>
          </a:p>
          <a:p>
            <a:pPr>
              <a:buFont typeface="Monotype Sorts" pitchFamily="2" charset="2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" val="Y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" val="YE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" val="YES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" val="YE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" val="YES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" val="YES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" val="YE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" val="YES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HIGHLIGHT" val="YES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1726</TotalTime>
  <Words>2351</Words>
  <Application>Microsoft Office PowerPoint</Application>
  <PresentationFormat>Widescreen</PresentationFormat>
  <Paragraphs>1095</Paragraphs>
  <Slides>47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Arial</vt:lpstr>
      <vt:lpstr>Calibri</vt:lpstr>
      <vt:lpstr>Calibri Light</vt:lpstr>
      <vt:lpstr>Courier New</vt:lpstr>
      <vt:lpstr>Monotype Sorts</vt:lpstr>
      <vt:lpstr>Times New Roman</vt:lpstr>
      <vt:lpstr>Wingdings</vt:lpstr>
      <vt:lpstr>Office Theme</vt:lpstr>
      <vt:lpstr>PowerPoint Presentation</vt:lpstr>
      <vt:lpstr>RECAP</vt:lpstr>
      <vt:lpstr>Joins</vt:lpstr>
      <vt:lpstr> Why joins instead of Set operations? </vt:lpstr>
      <vt:lpstr>Joins Vs Set </vt:lpstr>
      <vt:lpstr>MySQL JOIN</vt:lpstr>
      <vt:lpstr>Types of Joins</vt:lpstr>
      <vt:lpstr>Types of Joins</vt:lpstr>
      <vt:lpstr> Inner joins  </vt:lpstr>
      <vt:lpstr>Outer Join</vt:lpstr>
      <vt:lpstr>Cartesian Product</vt:lpstr>
      <vt:lpstr>Cartesian Product</vt:lpstr>
      <vt:lpstr>Cartesian Product</vt:lpstr>
      <vt:lpstr>Cartesian Product</vt:lpstr>
      <vt:lpstr>Cartesian Product</vt:lpstr>
      <vt:lpstr>Cartesian Product</vt:lpstr>
      <vt:lpstr>Cartesian Product</vt:lpstr>
      <vt:lpstr>Cartesian Product</vt:lpstr>
      <vt:lpstr>Cartesian Product</vt:lpstr>
      <vt:lpstr>Cartesian Product</vt:lpstr>
      <vt:lpstr>Cartesian Product</vt:lpstr>
      <vt:lpstr>Cartesian Product</vt:lpstr>
      <vt:lpstr>Cartesian Product</vt:lpstr>
      <vt:lpstr>Cartesian Product</vt:lpstr>
      <vt:lpstr>Cartesian product</vt:lpstr>
      <vt:lpstr>  CARTESIAN PRODUCT</vt:lpstr>
      <vt:lpstr>Natural Join Vs Inner Join</vt:lpstr>
      <vt:lpstr>Natural join </vt:lpstr>
      <vt:lpstr>Inner Joins</vt:lpstr>
      <vt:lpstr>Inner Join Alternate Syntax</vt:lpstr>
      <vt:lpstr>Inner Joins</vt:lpstr>
      <vt:lpstr>Inner Joins: Cartesian Product Built</vt:lpstr>
      <vt:lpstr>Inner Joins: WHERE Clause Restricts Rows</vt:lpstr>
      <vt:lpstr>Inner Joins: Results Are Returned</vt:lpstr>
      <vt:lpstr>Inner Joins</vt:lpstr>
      <vt:lpstr>INNER JOIN</vt:lpstr>
      <vt:lpstr>INNER JOIN</vt:lpstr>
      <vt:lpstr>Outer Joins</vt:lpstr>
      <vt:lpstr>Outer Joins</vt:lpstr>
      <vt:lpstr>Outer Joins</vt:lpstr>
      <vt:lpstr>Full outer join </vt:lpstr>
      <vt:lpstr>Determining Left and Right</vt:lpstr>
      <vt:lpstr>Left Join</vt:lpstr>
      <vt:lpstr>Right Join</vt:lpstr>
      <vt:lpstr>Full Join</vt:lpstr>
      <vt:lpstr>LEFT JOIN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Subathra P (CSE)</dc:creator>
  <cp:lastModifiedBy>Subathra P (CSE)</cp:lastModifiedBy>
  <cp:revision>191</cp:revision>
  <dcterms:created xsi:type="dcterms:W3CDTF">2025-06-23T09:00:36Z</dcterms:created>
  <dcterms:modified xsi:type="dcterms:W3CDTF">2025-07-22T07:34:59Z</dcterms:modified>
</cp:coreProperties>
</file>