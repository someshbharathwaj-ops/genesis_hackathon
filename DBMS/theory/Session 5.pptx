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m8sy3ReccBabu/agaigYQwKGE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2AAFB6-86F2-4730-8B56-B7A8962E616A}">
  <a:tblStyle styleId="{362AAFB6-86F2-4730-8B56-B7A8962E616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mysqltutorial.org/mysql-string-functions/mysql-concat/" TargetMode="External"/><Relationship Id="rId4" Type="http://schemas.openxmlformats.org/officeDocument/2006/relationships/hyperlink" Target="https://www.mysqltutorial.org/mysql-string-functions/mysql-concat_ws/" TargetMode="External"/><Relationship Id="rId11" Type="http://schemas.openxmlformats.org/officeDocument/2006/relationships/hyperlink" Target="https://www.mysqltutorial.org/mysql-string-functions/mysql-ltrim-function/" TargetMode="External"/><Relationship Id="rId10" Type="http://schemas.openxmlformats.org/officeDocument/2006/relationships/hyperlink" Target="https://www.mysqltutorial.org/mysql-string-functions/mysql-locate-function/" TargetMode="External"/><Relationship Id="rId9" Type="http://schemas.openxmlformats.org/officeDocument/2006/relationships/hyperlink" Target="https://www.mysqltutorial.org/mysql-string-functions/mysql-lower/" TargetMode="External"/><Relationship Id="rId5" Type="http://schemas.openxmlformats.org/officeDocument/2006/relationships/hyperlink" Target="https://www.mysqltutorial.org/mysql-string-functions/mysql-instr/" TargetMode="External"/><Relationship Id="rId6" Type="http://schemas.openxmlformats.org/officeDocument/2006/relationships/hyperlink" Target="https://www.mysqltutorial.org/mysql-string-functions/mysql-string-length/" TargetMode="External"/><Relationship Id="rId7" Type="http://schemas.openxmlformats.org/officeDocument/2006/relationships/hyperlink" Target="https://www.mysqltutorial.org/mysql-string-functions/mysql-char_length/" TargetMode="External"/><Relationship Id="rId8" Type="http://schemas.openxmlformats.org/officeDocument/2006/relationships/hyperlink" Target="https://www.mysqltutorial.org/mysql-string-functions/mysql-left-function/" TargetMode="External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mysqltutorial.org/mysql-string-functions/mysql-find_in_set/" TargetMode="External"/><Relationship Id="rId10" Type="http://schemas.openxmlformats.org/officeDocument/2006/relationships/hyperlink" Target="https://www.mysqltutorial.org/mysql-string-functions/mysql-trim-function/" TargetMode="External"/><Relationship Id="rId13" Type="http://schemas.openxmlformats.org/officeDocument/2006/relationships/hyperlink" Target="https://www.mysqltutorial.org/mysql-string-functions/mysql-upper/" TargetMode="External"/><Relationship Id="rId12" Type="http://schemas.openxmlformats.org/officeDocument/2006/relationships/hyperlink" Target="https://www.mysqltutorial.org/mysql-string-functions/mysql-format-function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mysqltutorial.org/mysql-string-functions/mysql-replace-function/" TargetMode="External"/><Relationship Id="rId4" Type="http://schemas.openxmlformats.org/officeDocument/2006/relationships/hyperlink" Target="https://www.mysqltutorial.org/mysql-string-functions/mysql-repeat-function/" TargetMode="External"/><Relationship Id="rId9" Type="http://schemas.openxmlformats.org/officeDocument/2006/relationships/hyperlink" Target="https://www.mysqltutorial.org/mysql-string-functions/mysql-substring_index-function/" TargetMode="External"/><Relationship Id="rId5" Type="http://schemas.openxmlformats.org/officeDocument/2006/relationships/hyperlink" Target="https://www.mysqltutorial.org/mysql-string-functions/mysql-reverse-function/" TargetMode="External"/><Relationship Id="rId6" Type="http://schemas.openxmlformats.org/officeDocument/2006/relationships/hyperlink" Target="https://www.mysqltutorial.org/mysql-string-functions/mysql-right-function/" TargetMode="External"/><Relationship Id="rId7" Type="http://schemas.openxmlformats.org/officeDocument/2006/relationships/hyperlink" Target="https://www.mysqltutorial.org/mysql-string-functions/mysql-rtrim-function/" TargetMode="External"/><Relationship Id="rId8" Type="http://schemas.openxmlformats.org/officeDocument/2006/relationships/hyperlink" Target="https://www.mysqltutorial.org/mysql-string-functions/mysql-substring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mysqltutorial.org/mysql-string-functions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DBMS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IN" sz="4800"/>
              <a:t>SQL BASICS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RECAP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Constraints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Create with constraints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Alter with constraints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SET OPERATIONS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Set Operations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Set operators in MySQL allow you to manage and compare data sets.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Relational databases employ set operators to modify and compare data sets.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Simply put, a set operator creates a new set of data that satisfies particular requirements by combining or comparing two or more data sets.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SQL supports few Set operations which can be performed on the table data. These are used to get meaningful results from data stored in the table, under different special conditions.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Common Set Operations 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frequently used to set operators in MySQL are: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UNION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UNION ALL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 INTERSECT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EXCEPT or MINUS. 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These operations are used to manipulate and analyze data from different tables or queries, providing a way to merge, find commonalities, or determine differences between result sets. </a:t>
            </a:r>
            <a:endParaRPr sz="2800"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347" y="2278966"/>
            <a:ext cx="3867150" cy="2532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UNION 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838200" y="1336431"/>
            <a:ext cx="10515600" cy="4840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Combines the results of two or more SELECT statements into a single result set.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Removes duplicate rows from the combined result set.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In case of union, number of columns and datatype must be same in both the tables, on which UNION operation is being applied.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1" y="3924886"/>
            <a:ext cx="5112434" cy="2567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2954" y="4065563"/>
            <a:ext cx="2938527" cy="16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UNION ALL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Similar to UNION, but includes duplicate rows in the combined result set.</a:t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4465" y="2740025"/>
            <a:ext cx="463867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 </a:t>
            </a:r>
            <a:endParaRPr/>
          </a:p>
        </p:txBody>
      </p:sp>
      <p:grpSp>
        <p:nvGrpSpPr>
          <p:cNvPr id="134" name="Google Shape;134;p8"/>
          <p:cNvGrpSpPr/>
          <p:nvPr/>
        </p:nvGrpSpPr>
        <p:grpSpPr>
          <a:xfrm>
            <a:off x="661194" y="1690692"/>
            <a:ext cx="11043336" cy="4499201"/>
            <a:chOff x="457200" y="934277"/>
            <a:chExt cx="7871791" cy="3316772"/>
          </a:xfrm>
        </p:grpSpPr>
        <p:pic>
          <p:nvPicPr>
            <p:cNvPr id="135" name="Google Shape;13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8249" y="1445729"/>
              <a:ext cx="990600" cy="1695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8"/>
            <p:cNvSpPr txBox="1"/>
            <p:nvPr/>
          </p:nvSpPr>
          <p:spPr>
            <a:xfrm>
              <a:off x="457200" y="1093304"/>
              <a:ext cx="1192696" cy="249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INSTRUCTOR</a:t>
              </a:r>
              <a:endParaRPr/>
            </a:p>
          </p:txBody>
        </p:sp>
        <p:pic>
          <p:nvPicPr>
            <p:cNvPr id="137" name="Google Shape;13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23843" y="1871041"/>
              <a:ext cx="942975" cy="11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8"/>
            <p:cNvSpPr txBox="1"/>
            <p:nvPr/>
          </p:nvSpPr>
          <p:spPr>
            <a:xfrm>
              <a:off x="1888435" y="1540566"/>
              <a:ext cx="1083365" cy="249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TEACHES</a:t>
              </a:r>
              <a:endParaRPr/>
            </a:p>
          </p:txBody>
        </p:sp>
        <p:sp>
          <p:nvSpPr>
            <p:cNvPr id="139" name="Google Shape;139;p8"/>
            <p:cNvSpPr txBox="1"/>
            <p:nvPr/>
          </p:nvSpPr>
          <p:spPr>
            <a:xfrm>
              <a:off x="3220277" y="934277"/>
              <a:ext cx="2604000" cy="8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id from instructor </a:t>
              </a:r>
              <a:r>
                <a:rPr lang="en-IN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union</a:t>
              </a:r>
              <a:r>
                <a:rPr lang="en-IN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id from teaches;</a:t>
              </a:r>
              <a:endParaRPr/>
            </a:p>
          </p:txBody>
        </p:sp>
        <p:pic>
          <p:nvPicPr>
            <p:cNvPr id="140" name="Google Shape;140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43375" y="1866280"/>
              <a:ext cx="647286" cy="1880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05235" y="1945999"/>
              <a:ext cx="607529" cy="2305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8"/>
            <p:cNvSpPr txBox="1"/>
            <p:nvPr/>
          </p:nvSpPr>
          <p:spPr>
            <a:xfrm>
              <a:off x="6152322" y="1063487"/>
              <a:ext cx="2176669" cy="1089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id from instructor </a:t>
              </a:r>
              <a:r>
                <a:rPr lang="en-IN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union</a:t>
              </a:r>
              <a:r>
                <a:rPr lang="en-IN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IN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all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id from teaches;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IN"/>
            </a:br>
            <a:r>
              <a:rPr lang="en-IN"/>
              <a:t>INTERSECT</a:t>
            </a:r>
            <a:br>
              <a:rPr lang="en-IN"/>
            </a:br>
            <a:endParaRPr/>
          </a:p>
        </p:txBody>
      </p:sp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Returns only the rows that are common to the result sets of two SELECT statements.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Requires that the number of columns and data types be compatible between the SELECT statements.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IN">
                <a:solidFill>
                  <a:srgbClr val="FF0000"/>
                </a:solidFill>
              </a:rPr>
              <a:t>In case of Intersect the number of columns and data type must be same.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7951" y="4445391"/>
            <a:ext cx="4726744" cy="218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446" y="4445391"/>
            <a:ext cx="2865368" cy="168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 </a:t>
            </a:r>
            <a:endParaRPr/>
          </a:p>
        </p:txBody>
      </p:sp>
      <p:grpSp>
        <p:nvGrpSpPr>
          <p:cNvPr id="156" name="Google Shape;156;p10"/>
          <p:cNvGrpSpPr/>
          <p:nvPr/>
        </p:nvGrpSpPr>
        <p:grpSpPr>
          <a:xfrm>
            <a:off x="1094349" y="1917282"/>
            <a:ext cx="10736580" cy="4403187"/>
            <a:chOff x="954156" y="944216"/>
            <a:chExt cx="6877879" cy="2773019"/>
          </a:xfrm>
        </p:grpSpPr>
        <p:sp>
          <p:nvSpPr>
            <p:cNvPr id="157" name="Google Shape;157;p10"/>
            <p:cNvSpPr txBox="1"/>
            <p:nvPr/>
          </p:nvSpPr>
          <p:spPr>
            <a:xfrm>
              <a:off x="954156" y="1023730"/>
              <a:ext cx="1192696" cy="251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INSTRUCTOR</a:t>
              </a:r>
              <a:endParaRPr/>
            </a:p>
          </p:txBody>
        </p:sp>
        <p:pic>
          <p:nvPicPr>
            <p:cNvPr id="158" name="Google Shape;15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6356" y="1682197"/>
              <a:ext cx="942975" cy="11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0"/>
            <p:cNvSpPr txBox="1"/>
            <p:nvPr/>
          </p:nvSpPr>
          <p:spPr>
            <a:xfrm>
              <a:off x="3076161" y="1228909"/>
              <a:ext cx="1083365" cy="251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TEACHES</a:t>
              </a:r>
              <a:endParaRPr/>
            </a:p>
          </p:txBody>
        </p:sp>
        <p:sp>
          <p:nvSpPr>
            <p:cNvPr id="160" name="Google Shape;160;p10"/>
            <p:cNvSpPr txBox="1"/>
            <p:nvPr/>
          </p:nvSpPr>
          <p:spPr>
            <a:xfrm>
              <a:off x="4602802" y="944216"/>
              <a:ext cx="3229233" cy="872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id from instructor </a:t>
              </a:r>
              <a:r>
                <a:rPr lang="en-IN" sz="2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intersect</a:t>
              </a:r>
              <a:r>
                <a:rPr lang="en-IN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id from teaches;</a:t>
              </a:r>
              <a:endParaRPr/>
            </a:p>
          </p:txBody>
        </p:sp>
        <p:pic>
          <p:nvPicPr>
            <p:cNvPr id="161" name="Google Shape;16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48947" y="2136913"/>
              <a:ext cx="682279" cy="158032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2" name="Google Shape;16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873" y="2681014"/>
            <a:ext cx="1575664" cy="287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IN"/>
            </a:br>
            <a:r>
              <a:rPr lang="en-IN"/>
              <a:t>MINUS/EXCEPT</a:t>
            </a:r>
            <a:br>
              <a:rPr lang="en-IN"/>
            </a:br>
            <a:endParaRPr/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247357" y="1690688"/>
            <a:ext cx="664581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Returns the rows from the first SELECT statement that are not present in the second SELECT statement.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Similar to set difference in mathematics.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Requires that the number of columns and data types be compatible between the SELECT statements.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IN">
                <a:solidFill>
                  <a:srgbClr val="FF0000"/>
                </a:solidFill>
              </a:rPr>
              <a:t>EXCEPT returns those rows from the first SELECT statement that are not present in the second.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6812" y="1690688"/>
            <a:ext cx="4917831" cy="4483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</a:t>
            </a:r>
            <a:endParaRPr/>
          </a:p>
        </p:txBody>
      </p:sp>
      <p:grpSp>
        <p:nvGrpSpPr>
          <p:cNvPr id="175" name="Google Shape;175;p12"/>
          <p:cNvGrpSpPr/>
          <p:nvPr/>
        </p:nvGrpSpPr>
        <p:grpSpPr>
          <a:xfrm>
            <a:off x="1569720" y="1589649"/>
            <a:ext cx="9389012" cy="4754879"/>
            <a:chOff x="954156" y="944216"/>
            <a:chExt cx="6877879" cy="2147268"/>
          </a:xfrm>
        </p:grpSpPr>
        <p:pic>
          <p:nvPicPr>
            <p:cNvPr id="176" name="Google Shape;17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5509" y="1396034"/>
              <a:ext cx="990600" cy="1695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2"/>
            <p:cNvSpPr txBox="1"/>
            <p:nvPr/>
          </p:nvSpPr>
          <p:spPr>
            <a:xfrm>
              <a:off x="954156" y="1023730"/>
              <a:ext cx="1192696" cy="180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INSTRUCTOR</a:t>
              </a:r>
              <a:endParaRPr/>
            </a:p>
          </p:txBody>
        </p:sp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6356" y="1682197"/>
              <a:ext cx="942975" cy="11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2"/>
            <p:cNvSpPr txBox="1"/>
            <p:nvPr/>
          </p:nvSpPr>
          <p:spPr>
            <a:xfrm>
              <a:off x="3170583" y="1411357"/>
              <a:ext cx="1083365" cy="152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TEACHES</a:t>
              </a:r>
              <a:endParaRPr/>
            </a:p>
          </p:txBody>
        </p:sp>
        <p:sp>
          <p:nvSpPr>
            <p:cNvPr id="180" name="Google Shape;180;p12"/>
            <p:cNvSpPr txBox="1"/>
            <p:nvPr/>
          </p:nvSpPr>
          <p:spPr>
            <a:xfrm>
              <a:off x="4909930" y="944216"/>
              <a:ext cx="2922105" cy="542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id from instructor 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minus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id from teaches;</a:t>
              </a:r>
              <a:endParaRPr/>
            </a:p>
          </p:txBody>
        </p:sp>
      </p:grpSp>
      <p:pic>
        <p:nvPicPr>
          <p:cNvPr id="181" name="Google Shape;18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7648" y="3223823"/>
            <a:ext cx="731583" cy="1268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Combining Set Operators</a:t>
            </a:r>
            <a:endParaRPr/>
          </a:p>
        </p:txBody>
      </p:sp>
      <p:sp>
        <p:nvSpPr>
          <p:cNvPr id="187" name="Google Shape;18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By mixing the set operators in various ways, you may design complicated queries that can help you extract useful insights from your data.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Assume that we have a table named customers as: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88" name="Google Shape;188;p13"/>
          <p:cNvGraphicFramePr/>
          <p:nvPr/>
        </p:nvGraphicFramePr>
        <p:xfrm>
          <a:off x="2260209" y="3874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2032000"/>
                <a:gridCol w="2032000"/>
                <a:gridCol w="2032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city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Alice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Boston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Bob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Miami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Amanda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Austin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David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Boston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Emily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Miami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838200" y="647114"/>
            <a:ext cx="10515600" cy="5529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We want to combine the UNION and INTERSECT operators in MySQL with the same customers table.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Suppose we want to find the names of customers who either live in Boston or Miami and whose names start with the letter 'A’.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We can use the UNION and INTERSECT operators to achieve this.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 Here's how the query would look: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 sz="2400">
                <a:solidFill>
                  <a:srgbClr val="FF0000"/>
                </a:solidFill>
              </a:rPr>
              <a:t>SELECT name FROM customers WHERE city = 'Boston’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 sz="2400">
                <a:solidFill>
                  <a:srgbClr val="FF0000"/>
                </a:solidFill>
              </a:rPr>
              <a:t>UNION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 sz="2400">
                <a:solidFill>
                  <a:srgbClr val="FF0000"/>
                </a:solidFill>
              </a:rPr>
              <a:t>SELECT name FROM customers WHERE city = 'Miami'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 sz="2400">
                <a:solidFill>
                  <a:srgbClr val="FF0000"/>
                </a:solidFill>
              </a:rPr>
              <a:t>INTERSECT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 sz="2400">
                <a:solidFill>
                  <a:srgbClr val="FF0000"/>
                </a:solidFill>
              </a:rPr>
              <a:t>SELECT name FROM customers WHERE name LIKE 'A%';</a:t>
            </a:r>
            <a:endParaRPr sz="2400">
              <a:solidFill>
                <a:srgbClr val="FF0000"/>
              </a:solidFill>
            </a:endParaRPr>
          </a:p>
        </p:txBody>
      </p:sp>
      <p:graphicFrame>
        <p:nvGraphicFramePr>
          <p:cNvPr id="194" name="Google Shape;194;p14"/>
          <p:cNvGraphicFramePr/>
          <p:nvPr/>
        </p:nvGraphicFramePr>
        <p:xfrm>
          <a:off x="8370278" y="45217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26166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Alice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400" u="none" cap="none" strike="noStrike"/>
                        <a:t>David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String Functions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>
            <p:ph type="title"/>
          </p:nvPr>
        </p:nvSpPr>
        <p:spPr>
          <a:xfrm>
            <a:off x="838200" y="365125"/>
            <a:ext cx="10515600" cy="915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MySQL string functions </a:t>
            </a:r>
            <a:endParaRPr/>
          </a:p>
        </p:txBody>
      </p:sp>
      <p:sp>
        <p:nvSpPr>
          <p:cNvPr id="205" name="Google Shape;205;p16"/>
          <p:cNvSpPr txBox="1"/>
          <p:nvPr>
            <p:ph idx="1" type="body"/>
          </p:nvPr>
        </p:nvSpPr>
        <p:spPr>
          <a:xfrm>
            <a:off x="838200" y="1153551"/>
            <a:ext cx="10515600" cy="502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most commonly used MySQL string functions that allow you to manipulate character string data effectively.</a:t>
            </a:r>
            <a:endParaRPr/>
          </a:p>
        </p:txBody>
      </p:sp>
      <p:graphicFrame>
        <p:nvGraphicFramePr>
          <p:cNvPr id="206" name="Google Shape;206;p16"/>
          <p:cNvGraphicFramePr/>
          <p:nvPr/>
        </p:nvGraphicFramePr>
        <p:xfrm>
          <a:off x="1061521" y="19586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2539800"/>
                <a:gridCol w="7638750"/>
              </a:tblGrid>
              <a:tr h="33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IN" sz="2000" u="none" cap="none" strike="noStrike"/>
                        <a:t>Name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IN" sz="2000" u="none" cap="none" strike="noStrike"/>
                        <a:t>Description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CONCAT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Concatenate two or more strings into a single string.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CONCAT_WS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 a single string by concatenating multiple strings separated by a specified separator.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INSTR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 the position of the first occurrence of a substring in a string.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LENGTH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Get the length of a string in bytes.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CHAR_LENGTH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 the length of a string measured in characters.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LEFT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Get a specified number of leftmost characters from a string.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LOWER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 a string converted to lowercase.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LOCATE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 the position of a substring within a given string starting at a specified position.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LTRIM</a:t>
                      </a:r>
                      <a:endParaRPr sz="2000" u="none" cap="none" strike="noStrike"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Remove all leading spaces from a string.</a:t>
                      </a:r>
                      <a:endParaRPr/>
                    </a:p>
                  </a:txBody>
                  <a:tcPr marT="25600" marB="25600" marR="51200" marL="512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" name="Google Shape;211;p17"/>
          <p:cNvGraphicFramePr/>
          <p:nvPr/>
        </p:nvGraphicFramePr>
        <p:xfrm>
          <a:off x="569592" y="4277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1502175"/>
                <a:gridCol w="3527175"/>
              </a:tblGrid>
              <a:tr h="89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REPLACE</a:t>
                      </a:r>
                      <a:endParaRPr sz="2000" u="none" cap="none" strike="noStrike"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Replace all occurrences of a substring in a string with a new one.</a:t>
                      </a:r>
                      <a:endParaRPr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REPEAT</a:t>
                      </a:r>
                      <a:endParaRPr sz="2000" u="none" cap="none" strike="noStrike"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Repeat a string a specified number of time.</a:t>
                      </a:r>
                      <a:endParaRPr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REVERSE</a:t>
                      </a:r>
                      <a:endParaRPr sz="2000" u="none" cap="none" strike="noStrike"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Reverse a string.</a:t>
                      </a:r>
                      <a:endParaRPr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9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RIGHT</a:t>
                      </a:r>
                      <a:endParaRPr sz="2000" u="none" cap="none" strike="noStrike"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Get a specified number of rightmost characters from a string.</a:t>
                      </a:r>
                      <a:endParaRPr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RTRIM</a:t>
                      </a:r>
                      <a:endParaRPr sz="2000" u="none" cap="none" strike="noStrike"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Remove all trailing spaces from a string.</a:t>
                      </a:r>
                      <a:endParaRPr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9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SUBSTRING</a:t>
                      </a:r>
                      <a:endParaRPr sz="2000" u="none" cap="none" strike="noStrike"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Extract a substring starting from a position with a specific length.</a:t>
                      </a:r>
                      <a:endParaRPr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SUBSTRING_INDEX</a:t>
                      </a:r>
                      <a:endParaRPr sz="2000" u="none" cap="none" strike="noStrike"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 a substring from a string before a specified number of occurrences of a delimiter.</a:t>
                      </a:r>
                      <a:endParaRPr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TRIM</a:t>
                      </a:r>
                      <a:endParaRPr sz="2000" u="none" cap="none" strike="noStrike"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Remove unwanted characters from a string.</a:t>
                      </a:r>
                      <a:endParaRPr/>
                    </a:p>
                  </a:txBody>
                  <a:tcPr marT="32000" marB="32000" marR="64000" marL="6400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" name="Google Shape;212;p17"/>
          <p:cNvGraphicFramePr/>
          <p:nvPr/>
        </p:nvGraphicFramePr>
        <p:xfrm>
          <a:off x="5939537" y="111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3012200"/>
                <a:gridCol w="301220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FIND_IN_SET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Find a string within a comma-separated list of strings.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FORMAT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Format a number with a specific locale, rounded to the number of decimals.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69A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sng" cap="none" strike="noStrike">
                          <a:solidFill>
                            <a:srgbClr val="00369A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UPPER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Convert a string to uppercase.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Example-CONCAT()</a:t>
            </a:r>
            <a:endParaRPr/>
          </a:p>
        </p:txBody>
      </p:sp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Example 1: Concatenating First and Last Name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>
                <a:solidFill>
                  <a:srgbClr val="FF0000"/>
                </a:solidFill>
              </a:rPr>
              <a:t>SELECT CONCAT(first_name, ' ', last_name) AS full_name</a:t>
            </a:r>
            <a:endParaRPr>
              <a:solidFill>
                <a:srgbClr val="FF0000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>
                <a:solidFill>
                  <a:srgbClr val="FF0000"/>
                </a:solidFill>
              </a:rPr>
              <a:t>FROM employees;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This joins the first_name and last_name columns with a space in between and gives the result as full_name.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Example2: To concatenate the values in the city and state columns into a single string:</a:t>
            </a:r>
            <a:endParaRPr/>
          </a:p>
          <a:p>
            <a:pPr indent="0" lvl="1" marL="457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>
                <a:solidFill>
                  <a:srgbClr val="FF0000"/>
                </a:solidFill>
              </a:rPr>
              <a:t>SELECT    city,    state,   CONCAT(city, ',', state) city_state FROM </a:t>
            </a:r>
            <a:endParaRPr/>
          </a:p>
          <a:p>
            <a:pPr indent="0" lvl="1" marL="457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IN">
                <a:solidFill>
                  <a:srgbClr val="FF0000"/>
                </a:solidFill>
              </a:rPr>
              <a:t>  customers;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CONCAT_WS</a:t>
            </a:r>
            <a:endParaRPr/>
          </a:p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838200" y="1825624"/>
            <a:ext cx="10515600" cy="503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Simple CONCAT_WS function example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 following example uses the CONCAT_WS() function to concatenate two strings with a comma: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IN">
                <a:solidFill>
                  <a:srgbClr val="FF0000"/>
                </a:solidFill>
              </a:rPr>
              <a:t>SELECT CONCAT_WS(',', 'John', 'Doe') full_name;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3232052" y="4738549"/>
            <a:ext cx="609834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+-----------+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full_name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+-----------+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John,Doe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+-----------+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row in set (0.00 sec)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Some more examples</a:t>
            </a:r>
            <a:endParaRPr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select </a:t>
            </a:r>
            <a:r>
              <a:rPr lang="en-IN">
                <a:solidFill>
                  <a:srgbClr val="FF0000"/>
                </a:solidFill>
              </a:rPr>
              <a:t>substr</a:t>
            </a:r>
            <a:r>
              <a:rPr lang="en-IN"/>
              <a:t>(name,2,3) as short from instructor;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select </a:t>
            </a:r>
            <a:r>
              <a:rPr lang="en-IN">
                <a:solidFill>
                  <a:srgbClr val="FF0000"/>
                </a:solidFill>
              </a:rPr>
              <a:t>length</a:t>
            </a:r>
            <a:r>
              <a:rPr lang="en-IN"/>
              <a:t>(name) from instructor;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select </a:t>
            </a:r>
            <a:r>
              <a:rPr lang="en-IN">
                <a:solidFill>
                  <a:srgbClr val="FF0000"/>
                </a:solidFill>
              </a:rPr>
              <a:t>lower</a:t>
            </a:r>
            <a:r>
              <a:rPr lang="en-IN"/>
              <a:t>(name) from instructor;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select  </a:t>
            </a:r>
            <a:r>
              <a:rPr lang="en-IN">
                <a:solidFill>
                  <a:srgbClr val="FF0000"/>
                </a:solidFill>
              </a:rPr>
              <a:t>upper</a:t>
            </a:r>
            <a:r>
              <a:rPr lang="en-IN"/>
              <a:t>(name) from instructor;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select </a:t>
            </a:r>
            <a:r>
              <a:rPr lang="en-IN">
                <a:solidFill>
                  <a:srgbClr val="FF0000"/>
                </a:solidFill>
              </a:rPr>
              <a:t>trim</a:t>
            </a:r>
            <a:r>
              <a:rPr lang="en-IN"/>
              <a:t>(name) from instructor;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Explore all other string functions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https://www.mysqltutorial.org/mysql-string-functions/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 </a:t>
            </a:r>
            <a:endParaRPr/>
          </a:p>
        </p:txBody>
      </p:sp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CREATE TABLE employees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id INT,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name VARCHAR(100),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email VARCHAR(100),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department VARCHAR(50)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INSERT INTO employees VALUES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(1, 'John Doe', 'john.doe@example.com', 'Sales'),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(2, 'Jane Smith', 'jane_smith@example.com', 'HR'),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(3, 'Mike Johnson', 'mike.j@example.com', 'IT');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22"/>
          <p:cNvGraphicFramePr/>
          <p:nvPr/>
        </p:nvGraphicFramePr>
        <p:xfrm>
          <a:off x="689317" y="8159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2124225"/>
                <a:gridCol w="2363375"/>
                <a:gridCol w="6386725"/>
              </a:tblGrid>
              <a:tr h="3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Function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Description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Example &amp; Result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LENGTH()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Length of string in bytes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LENGTH(name) FROM employees; → 8, 10, 12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CHAR_LENGTH()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Number of characters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CHAR_LENGTH(name) FROM employees;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CONCAT()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Join strings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CONCAT(name, ' - ', department) FROM employees;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CONCAT_WS()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Join with separator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`SELECT CONCAT_WS('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LOWER()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Convert to lowercase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LOWER(name) FROM employees;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UPPER()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Convert to uppercase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UPPER(name) FROM employees;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SUBSTRING()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Extract substring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SUBSTRING(email, 1, 10) FROM employees;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LEFT()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Left N characters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LEFT(name, 4) FROM employees;</a:t>
                      </a:r>
                      <a:endParaRPr/>
                    </a:p>
                  </a:txBody>
                  <a:tcPr marT="38175" marB="38175" marR="76350" marL="763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806" y="675248"/>
            <a:ext cx="9734843" cy="572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977" y="1073781"/>
            <a:ext cx="10747717" cy="4710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DATE AND TIME FUNCTIONS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Current Date and Time</a:t>
            </a:r>
            <a:endParaRPr/>
          </a:p>
        </p:txBody>
      </p:sp>
      <p:graphicFrame>
        <p:nvGraphicFramePr>
          <p:cNvPr id="263" name="Google Shape;263;p26"/>
          <p:cNvGraphicFramePr/>
          <p:nvPr/>
        </p:nvGraphicFramePr>
        <p:xfrm>
          <a:off x="838200" y="1561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2467700"/>
                <a:gridCol w="4542700"/>
                <a:gridCol w="3505200"/>
              </a:tblGrid>
              <a:tr h="66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Function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6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NOW()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the current date and time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NOW();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6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CURDATE()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the current date (no time)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CURDATE();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6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CURTIME()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the current time (no date)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CURTIME();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6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UTC_DATE()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the current UTC date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UTC_DATE();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6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UTC_TIME()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the current UTC time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UTC_TIME();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6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UTC_TIMESTAMP()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current UTC date and time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UTC_TIMESTAMP();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/>
          <p:nvPr>
            <p:ph type="title"/>
          </p:nvPr>
        </p:nvSpPr>
        <p:spPr>
          <a:xfrm>
            <a:off x="838200" y="365125"/>
            <a:ext cx="10515600" cy="816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Date Extraction Functions</a:t>
            </a:r>
            <a:endParaRPr/>
          </a:p>
        </p:txBody>
      </p:sp>
      <p:graphicFrame>
        <p:nvGraphicFramePr>
          <p:cNvPr id="269" name="Google Shape;269;p27"/>
          <p:cNvGraphicFramePr/>
          <p:nvPr/>
        </p:nvGraphicFramePr>
        <p:xfrm>
          <a:off x="448584" y="1369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3285375"/>
                <a:gridCol w="3107450"/>
                <a:gridCol w="4512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Function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Description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Example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YEAR(date)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Extracts the year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YEAR('2025-07-15'); → 2025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4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MONTH(date)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Extracts the month (1–12)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MONTH(NOW());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DAY(date) / DAYOFMONTH(date)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Extracts day of the month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DAY('2025-07-15'); → 15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HOUR(time)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Extracts the hour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HOUR(NOW());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MINUTE(time)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Extracts minutes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MINUTE(NOW());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SECOND(time)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Extracts seconds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SECOND(NOW());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DAYNAME(date)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name of weekday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DAYNAME('2025-07-15'); → 'Tuesday'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MONTHNAME(date)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name of month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MONTHNAME('2025-07-15'); → 'July'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WEEK(date)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the week number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WEEK(NOW());</a:t>
                      </a:r>
                      <a:endParaRPr/>
                    </a:p>
                  </a:txBody>
                  <a:tcPr marT="44400" marB="44400" marR="88800" marL="88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439950" y="-2626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Date Arithmetic</a:t>
            </a:r>
            <a:endParaRPr/>
          </a:p>
        </p:txBody>
      </p:sp>
      <p:graphicFrame>
        <p:nvGraphicFramePr>
          <p:cNvPr id="275" name="Google Shape;275;p28"/>
          <p:cNvGraphicFramePr/>
          <p:nvPr/>
        </p:nvGraphicFramePr>
        <p:xfrm>
          <a:off x="439942" y="835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3505200"/>
                <a:gridCol w="3505200"/>
                <a:gridCol w="3505200"/>
              </a:tblGrid>
              <a:tr h="40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Function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0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DATE_ADD(date, INTERVAL expr unit)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Adds interval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DATE_ADD('2025-07-15', INTERVAL 10 DAY);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0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DATE_SUB(date, INTERVAL expr unit)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Subtracts interval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DATE_SUB(NOW(), INTERVAL 1 MONTH);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0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ADDDATE(date, INTERVAL expr unit)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Synonym for DATE_ADD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SUBDATE(date, INTERVAL expr unit)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Synonym for DATE_SUB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0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DATEDIFF(date1, date2)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Difference in days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DATEDIFF('2025-07-15', '2025-07-01'); → 14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70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TIMEDIFF(time1, time2)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Difference in time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TIMEDIFF('12:30:00', '10:00:00'); → 02:30:00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Formatting and Conversion</a:t>
            </a:r>
            <a:endParaRPr/>
          </a:p>
        </p:txBody>
      </p:sp>
      <p:graphicFrame>
        <p:nvGraphicFramePr>
          <p:cNvPr id="281" name="Google Shape;281;p29"/>
          <p:cNvGraphicFramePr/>
          <p:nvPr/>
        </p:nvGraphicFramePr>
        <p:xfrm>
          <a:off x="838200" y="169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3480575"/>
                <a:gridCol w="3529825"/>
                <a:gridCol w="3505200"/>
              </a:tblGrid>
              <a:tr h="47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Function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8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DATE_FORMAT(date, format)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Formats a date as 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DATE_FORMAT(NOW(), '%W, %M %e, %Y');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8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STR_TO_DATE(str, format)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Parses string to date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STR_TO_DATE('15-07-2025', '%d-%m-%Y');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8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UNIX_TIMESTAMP()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Returns current time as Unix timestamp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UNIX_TIMESTAMP();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8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FROM_UNIXTIME(unix_timestamp)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Converts Unix timestamp to datetime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SELECT FROM_UNIXTIME(1626357600);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Common Format Specifiers for DATE_FORMAT / STR_TO_DATE</a:t>
            </a:r>
            <a:endParaRPr sz="3200"/>
          </a:p>
        </p:txBody>
      </p:sp>
      <p:graphicFrame>
        <p:nvGraphicFramePr>
          <p:cNvPr id="287" name="Google Shape;287;p30"/>
          <p:cNvGraphicFramePr/>
          <p:nvPr/>
        </p:nvGraphicFramePr>
        <p:xfrm>
          <a:off x="996001" y="14426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{362AAFB6-86F2-4730-8B56-B7A8962E616A}</a:tableStyleId>
              </a:tblPr>
              <a:tblGrid>
                <a:gridCol w="1694450"/>
                <a:gridCol w="2332750"/>
                <a:gridCol w="5471300"/>
              </a:tblGrid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Specifier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Meaning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Example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%Y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Year (4 digits)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2025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%y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Year (2 digits)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25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%m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Month (01–12)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07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%c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Month (1–12)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7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%d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Day of month (01–31)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15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%e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Day of month (1–31)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15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%H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Hour (00–23)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14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%i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Minutes (00–59)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45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36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%s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Seconds (00–59)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30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%W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Weekday name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Tuesday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%M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Month name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/>
                        <a:t>July</a:t>
                      </a:r>
                      <a:endParaRPr/>
                    </a:p>
                  </a:txBody>
                  <a:tcPr marT="45325" marB="45325" marR="90650" marL="90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Basics of the TIMESTAMP Data Type</a:t>
            </a:r>
            <a:endParaRPr/>
          </a:p>
        </p:txBody>
      </p:sp>
      <p:sp>
        <p:nvSpPr>
          <p:cNvPr id="293" name="Google Shape;29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Stores a date and time value.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Automatically converts between the session time zone and UTC (unlike DATETIME, which is time zone-neutral).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Common for tracking creation/update times in records.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 </a:t>
            </a:r>
            <a:endParaRPr/>
          </a:p>
        </p:txBody>
      </p:sp>
      <p:sp>
        <p:nvSpPr>
          <p:cNvPr id="299" name="Google Shape;299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CREATE TABLE users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id INT AUTO_INCREMENT PRIMARY KEY,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username VARCHAR(100),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created_at TIMESTAMP DEFAULT CURRENT_TIMESTAMP,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updated_at TIMESTAMP DEFAULT CURRENT_TIMESTAMP ON UPDATE CURRENT_TIMESTAMP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);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 txBox="1"/>
          <p:nvPr>
            <p:ph idx="1" type="body"/>
          </p:nvPr>
        </p:nvSpPr>
        <p:spPr>
          <a:xfrm>
            <a:off x="838200" y="621872"/>
            <a:ext cx="10515600" cy="5614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Get current timestamp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	SELECT CURRENT_TIMESTAMP;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 </a:t>
            </a:r>
            <a:r>
              <a:rPr b="1" lang="en-IN"/>
              <a:t>Convert Unix timestamp to date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	SELECT FROM_UNIXTIME(1721046000);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Convert date to Unix timestamp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	SELECT UNIX_TIMESTAMP('2025-07-15 10:00:00’);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Add/Subtract time from a timestamp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-- Add 1 day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SELECT TIMESTAMPADD(DAY, 1, '2025-07-15 10:00:00');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-- Subtract 30 minutes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SELECT TIMESTAMPADD(MINUTE, -30, '2025-07-15 10:00:00');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/>
          <p:nvPr>
            <p:ph idx="1" type="body"/>
          </p:nvPr>
        </p:nvSpPr>
        <p:spPr>
          <a:xfrm>
            <a:off x="838200" y="633046"/>
            <a:ext cx="10515600" cy="5543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libri"/>
                <a:ea typeface="Calibri"/>
                <a:cs typeface="Calibri"/>
                <a:sym typeface="Calibri"/>
              </a:rPr>
              <a:t>Difference between two timestamps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Calibri"/>
                <a:ea typeface="Calibri"/>
                <a:cs typeface="Calibri"/>
                <a:sym typeface="Calibri"/>
              </a:rPr>
              <a:t>SELECT TIMESTAMPDIFF(SECOND, '2025-07-15 10:00:00', '2025-07-15 10:30:00’);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libri"/>
                <a:ea typeface="Calibri"/>
                <a:cs typeface="Calibri"/>
                <a:sym typeface="Calibri"/>
              </a:rPr>
              <a:t>Extract components from timestamp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Calibri"/>
                <a:ea typeface="Calibri"/>
                <a:cs typeface="Calibri"/>
                <a:sym typeface="Calibri"/>
              </a:rPr>
              <a:t>SELECT   YEAR(created_at),  MONTH(created_at),  DAY(created_at),  HOUR(created_at),  MINUTE(created_at)FROM users;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libri"/>
                <a:ea typeface="Calibri"/>
                <a:cs typeface="Calibri"/>
                <a:sym typeface="Calibri"/>
              </a:rPr>
              <a:t>Format a timestamp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Calibri"/>
                <a:ea typeface="Calibri"/>
                <a:cs typeface="Calibri"/>
                <a:sym typeface="Calibri"/>
              </a:rPr>
              <a:t>SELECT DATE_FORMAT(created_at, '%W %M %e, %Y at %h:%i %p')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Calibri"/>
                <a:ea typeface="Calibri"/>
                <a:cs typeface="Calibri"/>
                <a:sym typeface="Calibri"/>
              </a:rPr>
              <a:t>FROM users;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2025-06-23T09:00:36Z</dcterms:created>
  <dc:creator>Subathra P (CSE)</dc:creator>
</cp:coreProperties>
</file>