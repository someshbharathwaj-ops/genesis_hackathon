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3"/>
  </p:notesMasterIdLst>
  <p:handoutMasterIdLst>
    <p:handoutMasterId r:id="rId74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6" r:id="rId19"/>
    <p:sldId id="428" r:id="rId20"/>
    <p:sldId id="429" r:id="rId21"/>
    <p:sldId id="431" r:id="rId22"/>
    <p:sldId id="430" r:id="rId23"/>
    <p:sldId id="432" r:id="rId24"/>
    <p:sldId id="478" r:id="rId25"/>
    <p:sldId id="434" r:id="rId26"/>
    <p:sldId id="471" r:id="rId27"/>
    <p:sldId id="502" r:id="rId28"/>
    <p:sldId id="435" r:id="rId29"/>
    <p:sldId id="436" r:id="rId30"/>
    <p:sldId id="437" r:id="rId31"/>
    <p:sldId id="516" r:id="rId32"/>
    <p:sldId id="503" r:id="rId33"/>
    <p:sldId id="490" r:id="rId34"/>
    <p:sldId id="491" r:id="rId35"/>
    <p:sldId id="492" r:id="rId36"/>
    <p:sldId id="521" r:id="rId37"/>
    <p:sldId id="522" r:id="rId38"/>
    <p:sldId id="523" r:id="rId39"/>
    <p:sldId id="524" r:id="rId40"/>
    <p:sldId id="525" r:id="rId41"/>
    <p:sldId id="479" r:id="rId42"/>
    <p:sldId id="473" r:id="rId43"/>
    <p:sldId id="476" r:id="rId44"/>
    <p:sldId id="445" r:id="rId45"/>
    <p:sldId id="446" r:id="rId46"/>
    <p:sldId id="447" r:id="rId47"/>
    <p:sldId id="448" r:id="rId48"/>
    <p:sldId id="518" r:id="rId49"/>
    <p:sldId id="520" r:id="rId50"/>
    <p:sldId id="451" r:id="rId51"/>
    <p:sldId id="496" r:id="rId52"/>
    <p:sldId id="497" r:id="rId53"/>
    <p:sldId id="498" r:id="rId54"/>
    <p:sldId id="455" r:id="rId55"/>
    <p:sldId id="507" r:id="rId56"/>
    <p:sldId id="508" r:id="rId57"/>
    <p:sldId id="509" r:id="rId58"/>
    <p:sldId id="510" r:id="rId59"/>
    <p:sldId id="457" r:id="rId60"/>
    <p:sldId id="511" r:id="rId61"/>
    <p:sldId id="512" r:id="rId62"/>
    <p:sldId id="513" r:id="rId63"/>
    <p:sldId id="458" r:id="rId64"/>
    <p:sldId id="459" r:id="rId65"/>
    <p:sldId id="460" r:id="rId66"/>
    <p:sldId id="461" r:id="rId67"/>
    <p:sldId id="514" r:id="rId68"/>
    <p:sldId id="462" r:id="rId69"/>
    <p:sldId id="477" r:id="rId70"/>
    <p:sldId id="463" r:id="rId71"/>
    <p:sldId id="467" r:id="rId7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>
      <p:cViewPr varScale="1">
        <p:scale>
          <a:sx n="75" d="100"/>
          <a:sy n="75" d="100"/>
        </p:scale>
        <p:origin x="974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handoutMaster" Target="handoutMasters/handoutMaster1.xml"/><Relationship Id="rId79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  <a:p>
            <a:r>
              <a:rPr lang="en-US" altLang="en-US" dirty="0"/>
              <a:t>Examples of IPC Systems</a:t>
            </a:r>
          </a:p>
          <a:p>
            <a:r>
              <a:rPr lang="en-US" altLang="en-US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using shared memory and message passing.</a:t>
            </a:r>
          </a:p>
          <a:p>
            <a:r>
              <a:rPr lang="en-US" altLang="en-US" dirty="0"/>
              <a:t>Design programs that uses pipes and POSIX shared memory to perform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communication.</a:t>
            </a:r>
          </a:p>
          <a:p>
            <a:r>
              <a:rPr lang="en-US" altLang="en-US" dirty="0"/>
              <a:t>Describe client-server communication using sockets and remote procedure calls.</a:t>
            </a:r>
          </a:p>
          <a:p>
            <a:r>
              <a:rPr lang="en-US" altLang="en-US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863725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4478752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great details in Chapters 6 &amp; 7.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latin typeface="Courier New" panose="02070309020205020404" pitchFamily="49" charset="0"/>
              </a:rPr>
              <a:t>BUFFER_SIZE-1</a:t>
            </a:r>
            <a:r>
              <a:rPr lang="en-US" altLang="en-US"/>
              <a:t>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next_produced;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buffer[in] = next_produced;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/>
          </a:p>
          <a:p>
            <a:pPr>
              <a:buFont typeface="Monotype Sorts" pitchFamily="-84" charset="2"/>
              <a:buNone/>
            </a:pPr>
            <a:r>
              <a:rPr lang="en-US" altLang="en-US" sz="1400"/>
              <a:t>	</a:t>
            </a:r>
          </a:p>
          <a:p>
            <a:pPr marL="7167563" lvl="4">
              <a:buFontTx/>
              <a:buNone/>
            </a:pPr>
            <a:endParaRPr lang="en-US" alt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next_consumed;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next_consumed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while (true) {</a:t>
            </a:r>
            <a:br>
              <a:rPr lang="en-US" altLang="en-US" sz="1700" dirty="0">
                <a:latin typeface="Courier New" panose="02070309020205020404" pitchFamily="49" charset="0"/>
              </a:rPr>
            </a:br>
            <a:r>
              <a:rPr lang="en-US" altLang="en-US" sz="1700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buffer[in] = </a:t>
            </a:r>
            <a:r>
              <a:rPr lang="en-US" altLang="en-US" sz="17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700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731" y="1262063"/>
            <a:ext cx="6931219" cy="48609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/>
              <a:t>Also used to open an existing segment</a:t>
            </a:r>
          </a:p>
          <a:p>
            <a:pPr lvl="1"/>
            <a:r>
              <a:rPr lang="en-US" altLang="en-US" dirty="0"/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903288"/>
            <a:ext cx="3754437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892175"/>
            <a:ext cx="4521200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075" y="1076325"/>
            <a:ext cx="764540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</a:p>
          <a:p>
            <a:pPr lvl="1"/>
            <a:r>
              <a:rPr lang="en-US" altLang="en-US" dirty="0"/>
              <a:t>Even system calls are messages</a:t>
            </a:r>
          </a:p>
          <a:p>
            <a:pPr lvl="1"/>
            <a:r>
              <a:rPr lang="en-US" altLang="en-US" dirty="0"/>
              <a:t>Each task gets two ports at creation  - Kernel and Notify</a:t>
            </a:r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</a:p>
          <a:p>
            <a:pPr lvl="1"/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Send and receive are flexible;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51113"/>
            <a:ext cx="4572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struct message </a:t>
            </a:r>
            <a:r>
              <a:rPr kumimoji="0" lang="en-US" altLang="en-US" sz="1400" b="1">
                <a:latin typeface="Courier New" panose="02070309020205020404" pitchFamily="49" charset="0"/>
              </a:rPr>
              <a:t>{</a:t>
            </a:r>
            <a:br>
              <a:rPr kumimoji="0" lang="en-US" altLang="en-US" sz="1400" b="1">
                <a:latin typeface="Courier New" panose="02070309020205020404" pitchFamily="49" charset="0"/>
              </a:rPr>
            </a:br>
            <a:r>
              <a:rPr kumimoji="0" lang="en-US" altLang="en-US" sz="1400" b="1">
                <a:latin typeface="Courier New" panose="02070309020205020404" pitchFamily="49" charset="0"/>
              </a:rPr>
              <a:t>	</a:t>
            </a:r>
            <a:r>
              <a:rPr kumimoji="0" lang="en-US" altLang="en-US" b="1">
                <a:latin typeface="Courier New" panose="02070309020205020404" pitchFamily="49" charset="0"/>
              </a:rPr>
              <a:t>mach_msg_header_t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>
                <a:latin typeface="Courier New" panose="02070309020205020404" pitchFamily="49" charset="0"/>
              </a:rPr>
              <a:t>}</a:t>
            </a:r>
            <a:r>
              <a:rPr kumimoji="0" lang="en-US" altLang="en-US" b="1">
                <a:latin typeface="Courier New" panose="02070309020205020404" pitchFamily="49" charset="0"/>
              </a:rPr>
              <a:t>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mach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mach port t server;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endParaRPr kumimoji="0" lang="en-US" altLang="en-U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43000"/>
            <a:ext cx="66675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633538"/>
            <a:ext cx="69977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/>
            <a:r>
              <a:rPr lang="en-US" altLang="en-US" dirty="0"/>
              <a:t>Only works between processes on the same system</a:t>
            </a:r>
          </a:p>
          <a:p>
            <a:pPr lvl="1"/>
            <a:r>
              <a:rPr lang="en-US" altLang="en-US" dirty="0"/>
              <a:t>Uses ports (like mailboxes) to establish and maintain communication channels</a:t>
            </a:r>
          </a:p>
          <a:p>
            <a:pPr lvl="1"/>
            <a:r>
              <a:rPr lang="en-US" altLang="en-US" dirty="0"/>
              <a:t>Communication works as follows:</a:t>
            </a:r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</a:p>
          <a:p>
            <a:pPr lvl="2"/>
            <a:r>
              <a:rPr lang="en-US" altLang="en-US" dirty="0"/>
              <a:t>The client sends a connection request.</a:t>
            </a:r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</a:p>
          <a:p>
            <a:r>
              <a:rPr lang="en-US" altLang="en-US"/>
              <a:t>Issues:</a:t>
            </a:r>
          </a:p>
          <a:p>
            <a:pPr lvl="1"/>
            <a:r>
              <a:rPr lang="en-US" altLang="en-US"/>
              <a:t>Is communication unidirectional or bidirectional?</a:t>
            </a:r>
          </a:p>
          <a:p>
            <a:pPr lvl="1"/>
            <a:r>
              <a:rPr lang="en-US" altLang="en-US"/>
              <a:t>In the case of two-way communication, is it half or full-duplex?</a:t>
            </a:r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</a:p>
          <a:p>
            <a:pPr lvl="1"/>
            <a:r>
              <a:rPr lang="en-US" altLang="en-US"/>
              <a:t>Can the pipes be used over a network?</a:t>
            </a:r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dirty="0"/>
              <a:t>Again uses ports for service differentiation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0275" y="969963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dirty="0"/>
              <a:t>Remote communication has more failure scenarios than local</a:t>
            </a:r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419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C9ED7689AC8E419CDDE11709033F76" ma:contentTypeVersion="3" ma:contentTypeDescription="Create a new document." ma:contentTypeScope="" ma:versionID="07ff613ea3b795054ed0def420f3c788">
  <xsd:schema xmlns:xsd="http://www.w3.org/2001/XMLSchema" xmlns:xs="http://www.w3.org/2001/XMLSchema" xmlns:p="http://schemas.microsoft.com/office/2006/metadata/properties" xmlns:ns2="d48f411a-aad8-4e4c-a32c-345e7615c97c" targetNamespace="http://schemas.microsoft.com/office/2006/metadata/properties" ma:root="true" ma:fieldsID="88ad6add39cb8f6e0f9e9957e52e4dec" ns2:_="">
    <xsd:import namespace="d48f411a-aad8-4e4c-a32c-345e7615c9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411a-aad8-4e4c-a32c-345e7615c9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093B96-39B1-46FE-B11F-99344ACD51BA}"/>
</file>

<file path=customXml/itemProps2.xml><?xml version="1.0" encoding="utf-8"?>
<ds:datastoreItem xmlns:ds="http://schemas.openxmlformats.org/officeDocument/2006/customXml" ds:itemID="{CEDEB2F8-25CC-45E4-A3C5-A0B11528C433}"/>
</file>

<file path=customXml/itemProps3.xml><?xml version="1.0" encoding="utf-8"?>
<ds:datastoreItem xmlns:ds="http://schemas.openxmlformats.org/officeDocument/2006/customXml" ds:itemID="{B93C4B61-24EA-4A9F-8A0A-ABBB1CABFD0C}"/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16504</TotalTime>
  <Words>3620</Words>
  <Application>Microsoft Office PowerPoint</Application>
  <PresentationFormat>On-screen Show (4:3)</PresentationFormat>
  <Paragraphs>446</Paragraphs>
  <Slides>71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Arial</vt:lpstr>
      <vt:lpstr>Courier</vt:lpstr>
      <vt:lpstr>Courier New</vt:lpstr>
      <vt:lpstr>Helvetica</vt:lpstr>
      <vt:lpstr>Monaco</vt:lpstr>
      <vt:lpstr>Monotype Sorts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Silberschatz, Avi</cp:lastModifiedBy>
  <cp:revision>345</cp:revision>
  <cp:lastPrinted>2013-10-02T18:16:40Z</cp:lastPrinted>
  <dcterms:created xsi:type="dcterms:W3CDTF">2011-01-13T23:43:38Z</dcterms:created>
  <dcterms:modified xsi:type="dcterms:W3CDTF">2021-02-28T16:12:12Z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0x010100C5C9ED7689AC8E419CDDE11709033F76</vt:lpwstr>
  </property>
</Properties>
</file>